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31" r:id="rId3"/>
    <p:sldId id="338" r:id="rId4"/>
    <p:sldId id="339" r:id="rId5"/>
    <p:sldId id="268" r:id="rId6"/>
    <p:sldId id="316" r:id="rId7"/>
    <p:sldId id="332" r:id="rId8"/>
    <p:sldId id="333" r:id="rId9"/>
    <p:sldId id="334" r:id="rId10"/>
    <p:sldId id="335" r:id="rId11"/>
    <p:sldId id="336" r:id="rId12"/>
    <p:sldId id="337" r:id="rId13"/>
    <p:sldId id="278" r:id="rId14"/>
  </p:sldIdLst>
  <p:sldSz cx="12192000" cy="6858000"/>
  <p:notesSz cx="9144000" cy="6858000"/>
  <p:defaultTextStyle>
    <a:defPPr>
      <a:defRPr lang="ru-RU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D414673-6291-E95B-8A48-E9062BF18BBB}">
  <a:tblStyle styleId="{7D414673-6291-E95B-8A48-E9062BF18BBB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  <a:fill>
          <a:solidFill>
            <a:schemeClr val="accent1">
              <a:tint val="40000"/>
            </a:schemeClr>
          </a:solidFill>
        </a:fill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CF1AB2-1976-4502-BF36-3FF5EA218861}" styleName="Средний стиль 4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DA37D80-6434-44D0-A028-1B22A696006F}" styleName="Светлый стиль 3 — акцент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75DCB02-9BB8-47FD-8907-85C794F793BA}" styleName="Стиль из темы 1 - акцент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BC89EF96-8CEA-46FF-86C4-4CE0E7609802}" styleName="Светлый стиль 3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81" autoAdjust="0"/>
    <p:restoredTop sz="94660"/>
  </p:normalViewPr>
  <p:slideViewPr>
    <p:cSldViewPr>
      <p:cViewPr varScale="1">
        <p:scale>
          <a:sx n="103" d="100"/>
          <a:sy n="103" d="100"/>
        </p:scale>
        <p:origin x="92" y="28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Титуль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 bwMode="auto">
          <a:xfrm>
            <a:off x="914400" y="2130426"/>
            <a:ext cx="10363200" cy="1470025"/>
          </a:xfrm>
        </p:spPr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 bwMode="auto">
          <a:xfrm>
            <a:off x="1828800" y="3886201"/>
            <a:ext cx="85344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ru-RU"/>
              <a:t>Образец подзаголовка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22162C4-37D7-4349-9C5B-6674379EBFE0}" type="datetimeFigureOut">
              <a:rPr lang="ru-RU"/>
              <a:t>02.06.2026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3BFEE-A7CD-4CD0-B312-B1D348E3E37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22162C4-37D7-4349-9C5B-6674379EBFE0}" type="datetimeFigureOut">
              <a:rPr lang="ru-RU"/>
              <a:t>02.06.2026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3BFEE-A7CD-4CD0-B312-B1D348E3E37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Заголовок раздел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22162C4-37D7-4349-9C5B-6674379EBFE0}" type="datetimeFigureOut">
              <a:rPr lang="ru-RU"/>
              <a:t>02.06.2026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3BFEE-A7CD-4CD0-B312-B1D348E3E37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 bwMode="auto"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 bwMode="auto"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22162C4-37D7-4349-9C5B-6674379EBFE0}" type="datetimeFigureOut">
              <a:rPr lang="ru-RU"/>
              <a:t>02.06.2026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3BFEE-A7CD-4CD0-B312-B1D348E3E37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 bwMode="auto"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 bwMode="auto"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22162C4-37D7-4349-9C5B-6674379EBFE0}" type="datetimeFigureOut">
              <a:rPr lang="ru-RU"/>
              <a:t>02.06.2026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3BFEE-A7CD-4CD0-B312-B1D348E3E37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Только заголов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22162C4-37D7-4349-9C5B-6674379EBFE0}" type="datetimeFigureOut">
              <a:rPr lang="ru-RU"/>
              <a:t>02.06.2026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3BFEE-A7CD-4CD0-B312-B1D348E3E37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22162C4-37D7-4349-9C5B-6674379EBFE0}" type="datetimeFigureOut">
              <a:rPr lang="ru-RU"/>
              <a:t>02.06.2026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3BFEE-A7CD-4CD0-B312-B1D348E3E37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22162C4-37D7-4349-9C5B-6674379EBFE0}" type="datetimeFigureOut">
              <a:rPr lang="ru-RU"/>
              <a:t>02.06.2026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3BFEE-A7CD-4CD0-B312-B1D348E3E37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 bwMode="auto"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22162C4-37D7-4349-9C5B-6674379EBFE0}" type="datetimeFigureOut">
              <a:rPr lang="ru-RU"/>
              <a:t>02.06.2026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3BFEE-A7CD-4CD0-B312-B1D348E3E37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Заголовок и вертикальный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22162C4-37D7-4349-9C5B-6674379EBFE0}" type="datetimeFigureOut">
              <a:rPr lang="ru-RU"/>
              <a:t>02.06.2026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3BFEE-A7CD-4CD0-B312-B1D348E3E37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Вертикальный заголовок и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 bwMode="auto">
          <a:xfrm>
            <a:off x="8839200" y="274639"/>
            <a:ext cx="2743200" cy="5851525"/>
          </a:xfrm>
        </p:spPr>
        <p:txBody>
          <a:bodyPr vert="eaVert"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 bwMode="auto">
          <a:xfrm>
            <a:off x="609600" y="274639"/>
            <a:ext cx="8026400" cy="5851525"/>
          </a:xfrm>
        </p:spPr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22162C4-37D7-4349-9C5B-6674379EBFE0}" type="datetimeFigureOut">
              <a:rPr lang="ru-RU"/>
              <a:t>02.06.2026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3BFEE-A7CD-4CD0-B312-B1D348E3E37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822162C4-37D7-4349-9C5B-6674379EBFE0}" type="datetimeFigureOut">
              <a:rPr lang="ru-RU"/>
              <a:t>02.06.2026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3C3BFEE-A7CD-4CD0-B312-B1D348E3E377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ctrTitle"/>
          </p:nvPr>
        </p:nvSpPr>
        <p:spPr bwMode="auto">
          <a:xfrm>
            <a:off x="2508734" y="2464008"/>
            <a:ext cx="7772400" cy="469244"/>
          </a:xfrm>
        </p:spPr>
        <p:txBody>
          <a:bodyPr>
            <a:normAutofit fontScale="90000"/>
          </a:bodyPr>
          <a:lstStyle/>
          <a:p>
            <a:pPr>
              <a:lnSpc>
                <a:spcPct val="114999"/>
              </a:lnSpc>
              <a:spcAft>
                <a:spcPts val="1000"/>
              </a:spcAft>
              <a:defRPr/>
            </a:pPr>
            <a:r>
              <a:rPr lang="ru-RU" sz="2400" b="1" dirty="0">
                <a:latin typeface="Times New Roman"/>
                <a:ea typeface="Times New Roman"/>
                <a:cs typeface="Times New Roman"/>
              </a:rPr>
              <a:t>ПМ.02 Осуществление интеграции программных модулей</a:t>
            </a:r>
            <a:br>
              <a:rPr lang="ru-RU" sz="2400" b="1" dirty="0">
                <a:latin typeface="Times New Roman"/>
                <a:ea typeface="Times New Roman"/>
                <a:cs typeface="Times New Roman"/>
              </a:rPr>
            </a:br>
            <a:endParaRPr lang="ru-RU" sz="2400" b="1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" name="Подзаголовок 3"/>
          <p:cNvSpPr>
            <a:spLocks noGrp="1"/>
          </p:cNvSpPr>
          <p:nvPr>
            <p:ph type="subTitle" idx="1"/>
          </p:nvPr>
        </p:nvSpPr>
        <p:spPr bwMode="auto">
          <a:xfrm>
            <a:off x="1814385" y="3356992"/>
            <a:ext cx="8466749" cy="792396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sz="1800" b="1" dirty="0">
                <a:solidFill>
                  <a:schemeClr val="accent1">
                    <a:lumMod val="75000"/>
                  </a:schemeClr>
                </a:solidFill>
              </a:rPr>
              <a:t>специальность 09.02.07  Информационные системы и программирование</a:t>
            </a:r>
            <a:endParaRPr dirty="0"/>
          </a:p>
        </p:txBody>
      </p:sp>
      <p:grpSp>
        <p:nvGrpSpPr>
          <p:cNvPr id="2" name="Группа 1"/>
          <p:cNvGrpSpPr/>
          <p:nvPr/>
        </p:nvGrpSpPr>
        <p:grpSpPr bwMode="auto">
          <a:xfrm>
            <a:off x="1847529" y="108069"/>
            <a:ext cx="8466749" cy="1462956"/>
            <a:chOff x="323528" y="108069"/>
            <a:chExt cx="8466749" cy="1462956"/>
          </a:xfrm>
        </p:grpSpPr>
        <p:pic>
          <p:nvPicPr>
            <p:cNvPr id="2050" name="Picture 2"/>
            <p:cNvPicPr>
              <a:picLocks noChangeAspect="1" noChangeArrowheads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/>
          </p:blipFill>
          <p:spPr bwMode="auto">
            <a:xfrm>
              <a:off x="323528" y="108069"/>
              <a:ext cx="1872208" cy="1462956"/>
            </a:xfrm>
            <a:prstGeom prst="rect">
              <a:avLst/>
            </a:prstGeom>
            <a:noFill/>
            <a:ln>
              <a:noFill/>
            </a:ln>
            <a:effectLst/>
          </p:spPr>
        </p:pic>
        <p:pic>
          <p:nvPicPr>
            <p:cNvPr id="2051" name="Picture 3"/>
            <p:cNvPicPr>
              <a:picLocks noChangeAspect="1" noChangeArrowheads="1"/>
            </p:cNvPicPr>
            <p:nvPr/>
          </p:nvPicPr>
          <p:blipFill>
            <a:blip r:embed="rId3"/>
            <a:stretch/>
          </p:blipFill>
          <p:spPr bwMode="auto">
            <a:xfrm>
              <a:off x="2555776" y="476672"/>
              <a:ext cx="6234501" cy="725750"/>
            </a:xfrm>
            <a:prstGeom prst="rect">
              <a:avLst/>
            </a:prstGeom>
            <a:noFill/>
            <a:ln>
              <a:noFill/>
            </a:ln>
            <a:effectLst/>
          </p:spPr>
        </p:pic>
      </p:grpSp>
      <p:sp>
        <p:nvSpPr>
          <p:cNvPr id="8" name="Прямоугольник 7"/>
          <p:cNvSpPr/>
          <p:nvPr/>
        </p:nvSpPr>
        <p:spPr bwMode="auto">
          <a:xfrm>
            <a:off x="3143672" y="1879234"/>
            <a:ext cx="700704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ru-RU" sz="3200" b="1" dirty="0">
                <a:solidFill>
                  <a:schemeClr val="accent2"/>
                </a:solidFill>
              </a:rPr>
              <a:t>ОТЧЕТ ПО УЧЕБНОЙ ПРАКТИКЕ</a:t>
            </a:r>
            <a:endParaRPr sz="3200" dirty="0"/>
          </a:p>
        </p:txBody>
      </p:sp>
      <p:sp>
        <p:nvSpPr>
          <p:cNvPr id="9" name="Прямоугольник 8"/>
          <p:cNvSpPr/>
          <p:nvPr/>
        </p:nvSpPr>
        <p:spPr bwMode="auto">
          <a:xfrm>
            <a:off x="7072958" y="4040598"/>
            <a:ext cx="3415531" cy="15081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dirty="0"/>
              <a:t>Выполнила: Александрова А.А. </a:t>
            </a:r>
            <a:r>
              <a:rPr lang="ru-RU" dirty="0" err="1"/>
              <a:t>Перевезенцева</a:t>
            </a:r>
            <a:r>
              <a:rPr lang="ru-RU" dirty="0"/>
              <a:t> М.С.</a:t>
            </a:r>
            <a:endParaRPr dirty="0"/>
          </a:p>
          <a:p>
            <a:pPr>
              <a:spcBef>
                <a:spcPts val="1200"/>
              </a:spcBef>
              <a:spcAft>
                <a:spcPts val="1200"/>
              </a:spcAft>
              <a:defRPr/>
            </a:pPr>
            <a:r>
              <a:rPr lang="ru-RU" dirty="0"/>
              <a:t>Группа: 31П</a:t>
            </a:r>
            <a:endParaRPr dirty="0"/>
          </a:p>
          <a:p>
            <a:pPr>
              <a:defRPr/>
            </a:pPr>
            <a:r>
              <a:rPr lang="ru-RU" dirty="0"/>
              <a:t>Руководитель: </a:t>
            </a:r>
            <a:r>
              <a:rPr lang="ru-RU" dirty="0" err="1"/>
              <a:t>Мамшева</a:t>
            </a:r>
            <a:r>
              <a:rPr lang="ru-RU" dirty="0"/>
              <a:t> Ю.С.</a:t>
            </a:r>
          </a:p>
        </p:txBody>
      </p:sp>
      <p:sp>
        <p:nvSpPr>
          <p:cNvPr id="10" name="TextBox 9"/>
          <p:cNvSpPr txBox="1"/>
          <p:nvPr/>
        </p:nvSpPr>
        <p:spPr bwMode="auto">
          <a:xfrm>
            <a:off x="5096976" y="6058163"/>
            <a:ext cx="19980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ru-RU" dirty="0"/>
              <a:t>Нижний Новгород</a:t>
            </a:r>
            <a:endParaRPr dirty="0"/>
          </a:p>
          <a:p>
            <a:pPr algn="ctr">
              <a:defRPr/>
            </a:pPr>
            <a:r>
              <a:rPr lang="ru-RU" dirty="0"/>
              <a:t>2026г.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3647728" y="323364"/>
            <a:ext cx="6120680" cy="662883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ru-RU" sz="2800" b="1" dirty="0">
                <a:solidFill>
                  <a:schemeClr val="accent1">
                    <a:lumMod val="75000"/>
                  </a:schemeClr>
                </a:solidFill>
              </a:rPr>
              <a:t>Архитектура системы</a:t>
            </a: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 bwMode="auto">
          <a:xfrm>
            <a:off x="1811524" y="182962"/>
            <a:ext cx="1224136" cy="95729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9349092-C420-4F14-A258-16C43E1F5C16}"/>
              </a:ext>
            </a:extLst>
          </p:cNvPr>
          <p:cNvSpPr txBox="1"/>
          <p:nvPr/>
        </p:nvSpPr>
        <p:spPr bwMode="auto">
          <a:xfrm>
            <a:off x="551384" y="1630810"/>
            <a:ext cx="633670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ru-RU" sz="2000" b="1" i="0" dirty="0">
                <a:solidFill>
                  <a:srgbClr val="0F1115"/>
                </a:solidFill>
                <a:effectLst/>
                <a:latin typeface="quote-cjk-patch"/>
              </a:rPr>
              <a:t>Архитектура ГПС</a:t>
            </a:r>
            <a:br>
              <a:rPr lang="ru-RU" sz="2000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ru-RU" sz="2000" b="0" i="0" dirty="0">
                <a:solidFill>
                  <a:srgbClr val="0F1115"/>
                </a:solidFill>
                <a:effectLst/>
                <a:latin typeface="quote-cjk-patch"/>
              </a:rPr>
              <a:t>Клиент - </a:t>
            </a:r>
            <a:r>
              <a:rPr lang="en-US" sz="2000" b="0" i="0" dirty="0">
                <a:solidFill>
                  <a:srgbClr val="0F1115"/>
                </a:solidFill>
                <a:effectLst/>
                <a:latin typeface="quote-cjk-patch"/>
              </a:rPr>
              <a:t>Django (Backend) </a:t>
            </a:r>
            <a:r>
              <a:rPr lang="ru-RU" sz="2000" b="0" i="0" dirty="0">
                <a:solidFill>
                  <a:srgbClr val="0F1115"/>
                </a:solidFill>
                <a:effectLst/>
                <a:latin typeface="quote-cjk-patch"/>
              </a:rPr>
              <a:t>-</a:t>
            </a:r>
            <a:r>
              <a:rPr lang="en-US" sz="2000" b="0" i="0" dirty="0">
                <a:solidFill>
                  <a:srgbClr val="0F1115"/>
                </a:solidFill>
                <a:effectLst/>
                <a:latin typeface="quote-cjk-patch"/>
              </a:rPr>
              <a:t> SQLite (</a:t>
            </a:r>
            <a:r>
              <a:rPr lang="ru-RU" sz="2000" b="0" i="0" dirty="0">
                <a:solidFill>
                  <a:srgbClr val="0F1115"/>
                </a:solidFill>
                <a:effectLst/>
                <a:latin typeface="quote-cjk-patch"/>
              </a:rPr>
              <a:t>БД) - Внешние </a:t>
            </a:r>
            <a:r>
              <a:rPr lang="en-US" sz="2000" b="0" i="0" dirty="0">
                <a:solidFill>
                  <a:srgbClr val="0F1115"/>
                </a:solidFill>
                <a:effectLst/>
                <a:latin typeface="quote-cjk-patch"/>
              </a:rPr>
              <a:t>API</a:t>
            </a:r>
          </a:p>
          <a:p>
            <a:pPr algn="l"/>
            <a:r>
              <a:rPr lang="ru-RU" sz="2000" b="1" i="0" dirty="0">
                <a:solidFill>
                  <a:srgbClr val="0F1115"/>
                </a:solidFill>
                <a:effectLst/>
                <a:latin typeface="quote-cjk-patch"/>
              </a:rPr>
              <a:t>Модули системы:</a:t>
            </a:r>
            <a:endParaRPr lang="ru-RU" sz="20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0F1115"/>
                </a:solidFill>
                <a:effectLst/>
                <a:latin typeface="quote-cjk-patch"/>
              </a:rPr>
              <a:t>Пользовательский модуль (регистрация, авторизация, роли)</a:t>
            </a:r>
            <a:endParaRPr lang="ru-RU" sz="2000" dirty="0">
              <a:solidFill>
                <a:srgbClr val="0F1115"/>
              </a:solidFill>
              <a:latin typeface="quote-cjk-patch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0F1115"/>
                </a:solidFill>
                <a:effectLst/>
                <a:latin typeface="quote-cjk-patch"/>
              </a:rPr>
              <a:t>Модуль стран и поездок (</a:t>
            </a:r>
            <a:r>
              <a:rPr lang="en-US" sz="2000" b="0" i="0" dirty="0">
                <a:solidFill>
                  <a:srgbClr val="0F1115"/>
                </a:solidFill>
                <a:effectLst/>
                <a:latin typeface="quote-cjk-patch"/>
              </a:rPr>
              <a:t>CRUD, </a:t>
            </a:r>
            <a:r>
              <a:rPr lang="ru-RU" sz="2000" b="0" i="0" dirty="0">
                <a:solidFill>
                  <a:srgbClr val="0F1115"/>
                </a:solidFill>
                <a:effectLst/>
                <a:latin typeface="quote-cjk-patch"/>
              </a:rPr>
              <a:t>бюджет)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b="0" i="0">
                <a:solidFill>
                  <a:srgbClr val="0F1115"/>
                </a:solidFill>
                <a:effectLst/>
                <a:latin typeface="quote-cjk-patch"/>
              </a:rPr>
              <a:t>Модуль </a:t>
            </a:r>
            <a:r>
              <a:rPr lang="ru-RU" sz="2000" b="0" i="0" dirty="0">
                <a:solidFill>
                  <a:srgbClr val="0F1115"/>
                </a:solidFill>
                <a:effectLst/>
                <a:latin typeface="quote-cjk-patch"/>
              </a:rPr>
              <a:t>разговорника (категории, фразы)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0F1115"/>
                </a:solidFill>
                <a:effectLst/>
                <a:latin typeface="quote-cjk-patch"/>
              </a:rPr>
              <a:t>Модуль статьи и приложения (</a:t>
            </a:r>
            <a:r>
              <a:rPr lang="en-US" sz="2000" b="0" i="0" dirty="0">
                <a:solidFill>
                  <a:srgbClr val="0F1115"/>
                </a:solidFill>
                <a:effectLst/>
                <a:latin typeface="quote-cjk-patch"/>
              </a:rPr>
              <a:t>CRUD</a:t>
            </a:r>
            <a:r>
              <a:rPr lang="ru-RU" sz="2000" b="0" i="0" dirty="0">
                <a:solidFill>
                  <a:srgbClr val="0F1115"/>
                </a:solidFill>
                <a:effectLst/>
                <a:latin typeface="quote-cjk-patch"/>
              </a:rPr>
              <a:t>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0F1115"/>
                </a:solidFill>
                <a:effectLst/>
                <a:latin typeface="quote-cjk-patch"/>
              </a:rPr>
              <a:t>Модуль </a:t>
            </a:r>
            <a:r>
              <a:rPr lang="en-US" sz="2000" b="0" i="0" dirty="0">
                <a:solidFill>
                  <a:srgbClr val="0F1115"/>
                </a:solidFill>
                <a:effectLst/>
                <a:latin typeface="quote-cjk-patch"/>
              </a:rPr>
              <a:t>API (</a:t>
            </a:r>
            <a:r>
              <a:rPr lang="ru-RU" sz="2000" b="0" i="0" dirty="0">
                <a:solidFill>
                  <a:srgbClr val="0F1115"/>
                </a:solidFill>
                <a:effectLst/>
                <a:latin typeface="quote-cjk-patch"/>
              </a:rPr>
              <a:t>курсы валют, новости)</a:t>
            </a:r>
          </a:p>
          <a:p>
            <a:pPr algn="l"/>
            <a:r>
              <a:rPr lang="en-US" sz="2000" b="1" i="0" dirty="0">
                <a:solidFill>
                  <a:srgbClr val="0F1115"/>
                </a:solidFill>
                <a:effectLst/>
                <a:latin typeface="quote-cjk-patch"/>
              </a:rPr>
              <a:t>ER-</a:t>
            </a:r>
            <a:r>
              <a:rPr lang="ru-RU" sz="2000" b="1" i="0" dirty="0">
                <a:solidFill>
                  <a:srgbClr val="0F1115"/>
                </a:solidFill>
                <a:effectLst/>
                <a:latin typeface="quote-cjk-patch"/>
              </a:rPr>
              <a:t>диаграмма:</a:t>
            </a:r>
            <a:br>
              <a:rPr lang="ru-RU" sz="2000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ru-RU" sz="2000" b="0" i="0" dirty="0">
                <a:solidFill>
                  <a:srgbClr val="0F1115"/>
                </a:solidFill>
                <a:effectLst/>
                <a:latin typeface="quote-cjk-patch"/>
              </a:rPr>
              <a:t>Сущности: </a:t>
            </a:r>
            <a:r>
              <a:rPr lang="en-US" sz="2000" b="0" i="0" dirty="0">
                <a:solidFill>
                  <a:srgbClr val="0F1115"/>
                </a:solidFill>
                <a:effectLst/>
                <a:latin typeface="quote-cjk-patch"/>
              </a:rPr>
              <a:t>User, Country, Trip, Budget, Phrase, </a:t>
            </a:r>
            <a:r>
              <a:rPr lang="en-US" sz="2000" b="0" i="0" dirty="0" err="1">
                <a:solidFill>
                  <a:srgbClr val="0F1115"/>
                </a:solidFill>
                <a:effectLst/>
                <a:latin typeface="quote-cjk-patch"/>
              </a:rPr>
              <a:t>LocalApp</a:t>
            </a:r>
            <a:endParaRPr lang="en-US" sz="20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endParaRPr lang="ru-RU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EF346E-4D91-4507-877D-888E955E34C9}"/>
              </a:ext>
            </a:extLst>
          </p:cNvPr>
          <p:cNvSpPr txBox="1"/>
          <p:nvPr/>
        </p:nvSpPr>
        <p:spPr>
          <a:xfrm>
            <a:off x="5159896" y="5445224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4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131DBC9-3ABB-4A2A-B1AA-76E010BE9C8E}"/>
              </a:ext>
            </a:extLst>
          </p:cNvPr>
          <p:cNvPicPr/>
          <p:nvPr/>
        </p:nvPicPr>
        <p:blipFill rotWithShape="1">
          <a:blip r:embed="rId3"/>
          <a:srcRect b="2513"/>
          <a:stretch/>
        </p:blipFill>
        <p:spPr>
          <a:xfrm>
            <a:off x="6960095" y="1010530"/>
            <a:ext cx="4482063" cy="518542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616D648-636E-43A7-B77D-2130755A7878}"/>
              </a:ext>
            </a:extLst>
          </p:cNvPr>
          <p:cNvSpPr txBox="1"/>
          <p:nvPr/>
        </p:nvSpPr>
        <p:spPr bwMode="auto">
          <a:xfrm>
            <a:off x="7248128" y="6165304"/>
            <a:ext cx="44820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ER </a:t>
            </a:r>
            <a:r>
              <a:rPr lang="ru-RU" dirty="0"/>
              <a:t>диаграмма</a:t>
            </a:r>
          </a:p>
        </p:txBody>
      </p:sp>
    </p:spTree>
    <p:extLst>
      <p:ext uri="{BB962C8B-B14F-4D97-AF65-F5344CB8AC3E}">
        <p14:creationId xmlns:p14="http://schemas.microsoft.com/office/powerpoint/2010/main" val="29145440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3575720" y="477376"/>
            <a:ext cx="6120680" cy="662883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ru-RU" sz="2800" b="1" dirty="0">
                <a:solidFill>
                  <a:schemeClr val="accent1">
                    <a:lumMod val="75000"/>
                  </a:schemeClr>
                </a:solidFill>
              </a:rPr>
              <a:t>Управление версиями: </a:t>
            </a:r>
            <a:r>
              <a:rPr lang="ru-RU" sz="2800" b="1" dirty="0" err="1">
                <a:solidFill>
                  <a:schemeClr val="accent1">
                    <a:lumMod val="75000"/>
                  </a:schemeClr>
                </a:solidFill>
              </a:rPr>
              <a:t>Git</a:t>
            </a:r>
            <a:r>
              <a:rPr lang="ru-RU" sz="2800" b="1" dirty="0">
                <a:solidFill>
                  <a:schemeClr val="accent1">
                    <a:lumMod val="75000"/>
                  </a:schemeClr>
                </a:solidFill>
              </a:rPr>
              <a:t> и ветки</a:t>
            </a: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 bwMode="auto">
          <a:xfrm>
            <a:off x="1811524" y="182962"/>
            <a:ext cx="1224136" cy="95729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9349092-C420-4F14-A258-16C43E1F5C16}"/>
              </a:ext>
            </a:extLst>
          </p:cNvPr>
          <p:cNvSpPr txBox="1"/>
          <p:nvPr/>
        </p:nvSpPr>
        <p:spPr bwMode="auto">
          <a:xfrm>
            <a:off x="2455415" y="2060848"/>
            <a:ext cx="786635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/>
              <a:t>БД Кинофильмы. </a:t>
            </a:r>
            <a:r>
              <a:rPr lang="ru-RU" sz="2000" dirty="0"/>
              <a:t>База данных содержит сведения о названии фильма, стране и годе выпуска, киностудии производителе, жанре фильма, разновидности жанра, имени режиссера и авторов сценария, именах ведущих актеров исполнителей и их ролях, кратком содержании (аннотации) фильма, виде носителя записи фильма, длительности фильма в минутах и т. д.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EF346E-4D91-4507-877D-888E955E34C9}"/>
              </a:ext>
            </a:extLst>
          </p:cNvPr>
          <p:cNvSpPr txBox="1"/>
          <p:nvPr/>
        </p:nvSpPr>
        <p:spPr>
          <a:xfrm>
            <a:off x="5159896" y="5445224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6580961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3575720" y="477376"/>
            <a:ext cx="6120680" cy="662883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ru-RU" sz="2800" b="1" dirty="0">
                <a:solidFill>
                  <a:schemeClr val="accent1">
                    <a:lumMod val="75000"/>
                  </a:schemeClr>
                </a:solidFill>
              </a:rPr>
              <a:t>Итоги работы: </a:t>
            </a:r>
            <a:r>
              <a:rPr lang="ru-RU" sz="2800" b="1" dirty="0" err="1">
                <a:solidFill>
                  <a:schemeClr val="accent1">
                    <a:lumMod val="75000"/>
                  </a:schemeClr>
                </a:solidFill>
              </a:rPr>
              <a:t>Канбан</a:t>
            </a:r>
            <a:r>
              <a:rPr lang="ru-RU" sz="2800" b="1" dirty="0">
                <a:solidFill>
                  <a:schemeClr val="accent1">
                    <a:lumMod val="75000"/>
                  </a:schemeClr>
                </a:solidFill>
              </a:rPr>
              <a:t>-доска</a:t>
            </a: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 bwMode="auto">
          <a:xfrm>
            <a:off x="1811524" y="182962"/>
            <a:ext cx="1224136" cy="95729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9349092-C420-4F14-A258-16C43E1F5C16}"/>
              </a:ext>
            </a:extLst>
          </p:cNvPr>
          <p:cNvSpPr txBox="1"/>
          <p:nvPr/>
        </p:nvSpPr>
        <p:spPr bwMode="auto">
          <a:xfrm>
            <a:off x="2455415" y="2060848"/>
            <a:ext cx="786635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/>
              <a:t>БД Кинофильмы. </a:t>
            </a:r>
            <a:r>
              <a:rPr lang="ru-RU" sz="2000" dirty="0"/>
              <a:t>База данных содержит сведения о названии фильма, стране и годе выпуска, киностудии производителе, жанре фильма, разновидности жанра, имени режиссера и авторов сценария, именах ведущих актеров исполнителей и их ролях, кратком содержании (аннотации) фильма, виде носителя записи фильма, длительности фильма в минутах и т. д.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EF346E-4D91-4507-877D-888E955E34C9}"/>
              </a:ext>
            </a:extLst>
          </p:cNvPr>
          <p:cNvSpPr txBox="1"/>
          <p:nvPr/>
        </p:nvSpPr>
        <p:spPr>
          <a:xfrm>
            <a:off x="5159896" y="5445224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28771707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3143672" y="344504"/>
            <a:ext cx="6120680" cy="662883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ru-RU" sz="2800" b="1" dirty="0">
                <a:solidFill>
                  <a:schemeClr val="accent1">
                    <a:lumMod val="75000"/>
                  </a:schemeClr>
                </a:solidFill>
              </a:rPr>
              <a:t>Список сущностей</a:t>
            </a: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 bwMode="auto">
          <a:xfrm>
            <a:off x="1811524" y="182962"/>
            <a:ext cx="1224136" cy="95729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1923E84-B5CE-42DB-B406-FAF57DD6CB35}"/>
              </a:ext>
            </a:extLst>
          </p:cNvPr>
          <p:cNvSpPr txBox="1"/>
          <p:nvPr/>
        </p:nvSpPr>
        <p:spPr>
          <a:xfrm>
            <a:off x="2918086" y="5877272"/>
            <a:ext cx="6120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Список сущностей БД «Кинофильмы»</a:t>
            </a:r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8F77C8AB-376F-4CED-8075-9B7F9B6D97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9481845"/>
              </p:ext>
            </p:extLst>
          </p:nvPr>
        </p:nvGraphicFramePr>
        <p:xfrm>
          <a:off x="2927649" y="1140258"/>
          <a:ext cx="6840760" cy="4666372"/>
        </p:xfrm>
        <a:graphic>
          <a:graphicData uri="http://schemas.openxmlformats.org/drawingml/2006/table">
            <a:tbl>
              <a:tblPr firstRow="1" firstCol="1" lastCol="1" bandRow="1" bandCol="1">
                <a:tableStyleId>{B301B821-A1FF-4177-AEE7-76D212191A09}</a:tableStyleId>
              </a:tblPr>
              <a:tblGrid>
                <a:gridCol w="576063">
                  <a:extLst>
                    <a:ext uri="{9D8B030D-6E8A-4147-A177-3AD203B41FA5}">
                      <a16:colId xmlns:a16="http://schemas.microsoft.com/office/drawing/2014/main" val="2128461554"/>
                    </a:ext>
                  </a:extLst>
                </a:gridCol>
                <a:gridCol w="1901302">
                  <a:extLst>
                    <a:ext uri="{9D8B030D-6E8A-4147-A177-3AD203B41FA5}">
                      <a16:colId xmlns:a16="http://schemas.microsoft.com/office/drawing/2014/main" val="2933009450"/>
                    </a:ext>
                  </a:extLst>
                </a:gridCol>
                <a:gridCol w="4363395">
                  <a:extLst>
                    <a:ext uri="{9D8B030D-6E8A-4147-A177-3AD203B41FA5}">
                      <a16:colId xmlns:a16="http://schemas.microsoft.com/office/drawing/2014/main" val="535789488"/>
                    </a:ext>
                  </a:extLst>
                </a:gridCol>
              </a:tblGrid>
              <a:tr h="1831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ru-RU" sz="1400" dirty="0">
                          <a:solidFill>
                            <a:schemeClr val="tx1"/>
                          </a:solidFill>
                          <a:effectLst/>
                        </a:rPr>
                        <a:t>№</a:t>
                      </a:r>
                      <a:endParaRPr lang="ru-RU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6995" algn="ctr">
                        <a:lnSpc>
                          <a:spcPct val="107000"/>
                        </a:lnSpc>
                      </a:pPr>
                      <a:r>
                        <a:rPr lang="ru-RU" sz="1400" dirty="0">
                          <a:solidFill>
                            <a:schemeClr val="tx1"/>
                          </a:solidFill>
                          <a:effectLst/>
                        </a:rPr>
                        <a:t>Название</a:t>
                      </a:r>
                      <a:endParaRPr lang="ru-RU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ru-RU" sz="1400" dirty="0">
                          <a:solidFill>
                            <a:schemeClr val="tx1"/>
                          </a:solidFill>
                          <a:effectLst/>
                        </a:rPr>
                        <a:t>Назначение</a:t>
                      </a:r>
                      <a:endParaRPr lang="ru-RU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0495431"/>
                  </a:ext>
                </a:extLst>
              </a:tr>
              <a:tr h="1831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ru-RU" sz="1400" dirty="0">
                          <a:effectLst/>
                        </a:rPr>
                        <a:t>1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6995" algn="just">
                        <a:lnSpc>
                          <a:spcPct val="107000"/>
                        </a:lnSpc>
                      </a:pPr>
                      <a:r>
                        <a:rPr lang="ru-RU" sz="1400" b="1" dirty="0">
                          <a:effectLst/>
                        </a:rPr>
                        <a:t>Фильм</a:t>
                      </a:r>
                      <a:endParaRPr lang="ru-RU" sz="14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64770" algn="just">
                        <a:lnSpc>
                          <a:spcPct val="107000"/>
                        </a:lnSpc>
                      </a:pPr>
                      <a:r>
                        <a:rPr lang="ru-RU" sz="1400" b="0" dirty="0">
                          <a:effectLst/>
                        </a:rPr>
                        <a:t>Описание фильма</a:t>
                      </a:r>
                      <a:endParaRPr lang="ru-RU" sz="14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058983110"/>
                  </a:ext>
                </a:extLst>
              </a:tr>
              <a:tr h="26635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ru-RU" sz="1400">
                          <a:effectLst/>
                        </a:rPr>
                        <a:t>2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6995" algn="just">
                        <a:lnSpc>
                          <a:spcPct val="107000"/>
                        </a:lnSpc>
                      </a:pPr>
                      <a:r>
                        <a:rPr lang="ru-RU" sz="1400" b="1" dirty="0">
                          <a:effectLst/>
                        </a:rPr>
                        <a:t>Страна</a:t>
                      </a:r>
                      <a:endParaRPr lang="ru-RU" sz="14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64770" algn="just">
                        <a:lnSpc>
                          <a:spcPct val="107000"/>
                        </a:lnSpc>
                      </a:pPr>
                      <a:r>
                        <a:rPr lang="ru-RU" sz="1400" b="0" dirty="0">
                          <a:effectLst/>
                        </a:rPr>
                        <a:t>Перечисление стран, которые снимают фильмы</a:t>
                      </a:r>
                      <a:endParaRPr lang="ru-RU" sz="14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57541852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ru-RU" sz="1400">
                          <a:effectLst/>
                        </a:rPr>
                        <a:t>3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6995" algn="just">
                        <a:lnSpc>
                          <a:spcPct val="107000"/>
                        </a:lnSpc>
                      </a:pPr>
                      <a:r>
                        <a:rPr lang="ru-RU" sz="1400" b="1" dirty="0">
                          <a:effectLst/>
                        </a:rPr>
                        <a:t>Киностудия</a:t>
                      </a:r>
                      <a:endParaRPr lang="ru-RU" sz="14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64770" algn="just">
                        <a:lnSpc>
                          <a:spcPct val="107000"/>
                        </a:lnSpc>
                      </a:pPr>
                      <a:r>
                        <a:rPr lang="ru-RU" sz="1400" b="0" dirty="0">
                          <a:effectLst/>
                        </a:rPr>
                        <a:t>Описание киностудий, которые снимают фильмы</a:t>
                      </a:r>
                      <a:endParaRPr lang="ru-RU" sz="14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734394506"/>
                  </a:ext>
                </a:extLst>
              </a:tr>
              <a:tr h="1831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ru-RU" sz="1400">
                          <a:effectLst/>
                        </a:rPr>
                        <a:t>4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6995" algn="just">
                        <a:lnSpc>
                          <a:spcPct val="107000"/>
                        </a:lnSpc>
                      </a:pPr>
                      <a:r>
                        <a:rPr lang="ru-RU" sz="1400" b="1" dirty="0">
                          <a:effectLst/>
                        </a:rPr>
                        <a:t>Жанр</a:t>
                      </a:r>
                      <a:endParaRPr lang="ru-RU" sz="14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64770" algn="just">
                        <a:lnSpc>
                          <a:spcPct val="107000"/>
                        </a:lnSpc>
                      </a:pPr>
                      <a:r>
                        <a:rPr lang="ru-RU" sz="1400" b="0" dirty="0">
                          <a:effectLst/>
                        </a:rPr>
                        <a:t>Описание жанров фильма</a:t>
                      </a:r>
                      <a:endParaRPr lang="ru-RU" sz="14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914853324"/>
                  </a:ext>
                </a:extLst>
              </a:tr>
              <a:tr h="1831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ru-RU" sz="1400">
                          <a:effectLst/>
                        </a:rPr>
                        <a:t>5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6995" algn="just">
                        <a:lnSpc>
                          <a:spcPct val="107000"/>
                        </a:lnSpc>
                      </a:pPr>
                      <a:r>
                        <a:rPr lang="ru-RU" sz="1400" b="1" dirty="0">
                          <a:effectLst/>
                        </a:rPr>
                        <a:t>Поджанр</a:t>
                      </a:r>
                      <a:endParaRPr lang="ru-RU" sz="14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64770" algn="just">
                        <a:lnSpc>
                          <a:spcPct val="107000"/>
                        </a:lnSpc>
                      </a:pPr>
                      <a:r>
                        <a:rPr lang="ru-RU" sz="1400" b="0" dirty="0">
                          <a:effectLst/>
                        </a:rPr>
                        <a:t>Описание поджанров, принадлежащих жанру</a:t>
                      </a:r>
                      <a:endParaRPr lang="ru-RU" sz="14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571107662"/>
                  </a:ext>
                </a:extLst>
              </a:tr>
              <a:tr h="37935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ru-RU" sz="1400">
                          <a:effectLst/>
                        </a:rPr>
                        <a:t>6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6995" algn="just">
                        <a:lnSpc>
                          <a:spcPct val="107000"/>
                        </a:lnSpc>
                      </a:pPr>
                      <a:r>
                        <a:rPr lang="ru-RU" sz="1400" b="1" dirty="0">
                          <a:effectLst/>
                        </a:rPr>
                        <a:t>Вид носителя</a:t>
                      </a:r>
                      <a:endParaRPr lang="ru-RU" sz="14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64770" marR="93345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 b="0" dirty="0">
                          <a:effectLst/>
                        </a:rPr>
                        <a:t>Описание видов носителей на которых может храниться фильм</a:t>
                      </a:r>
                      <a:endParaRPr lang="ru-RU" sz="14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56750992"/>
                  </a:ext>
                </a:extLst>
              </a:tr>
              <a:tr h="37935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ru-RU" sz="1400">
                          <a:effectLst/>
                        </a:rPr>
                        <a:t>7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6995" algn="just">
                        <a:lnSpc>
                          <a:spcPct val="107000"/>
                        </a:lnSpc>
                      </a:pPr>
                      <a:r>
                        <a:rPr lang="ru-RU" sz="1400" b="1" dirty="0">
                          <a:effectLst/>
                        </a:rPr>
                        <a:t>Участник</a:t>
                      </a:r>
                      <a:endParaRPr lang="ru-RU" sz="14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64770" marR="93345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 b="0" dirty="0">
                          <a:effectLst/>
                        </a:rPr>
                        <a:t>Описание участников, которые участвуют при создании фильма</a:t>
                      </a:r>
                      <a:endParaRPr lang="ru-RU" sz="14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961248095"/>
                  </a:ext>
                </a:extLst>
              </a:tr>
              <a:tr h="24324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ru-RU" sz="1400">
                          <a:effectLst/>
                        </a:rPr>
                        <a:t>8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6995" algn="just">
                        <a:lnSpc>
                          <a:spcPct val="107000"/>
                        </a:lnSpc>
                      </a:pPr>
                      <a:r>
                        <a:rPr lang="ru-RU" sz="1400" b="1" dirty="0">
                          <a:effectLst/>
                        </a:rPr>
                        <a:t>Роль в проекте</a:t>
                      </a:r>
                      <a:endParaRPr lang="ru-RU" sz="14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64770" marR="93345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 b="0" dirty="0">
                          <a:effectLst/>
                        </a:rPr>
                        <a:t>Описание роли в проекте, закрепленной за участником</a:t>
                      </a:r>
                      <a:endParaRPr lang="ru-RU" sz="14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953449342"/>
                  </a:ext>
                </a:extLst>
              </a:tr>
              <a:tr h="37935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ru-RU" sz="1400">
                          <a:effectLst/>
                        </a:rPr>
                        <a:t>9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6995" algn="just">
                        <a:lnSpc>
                          <a:spcPct val="107000"/>
                        </a:lnSpc>
                      </a:pPr>
                      <a:r>
                        <a:rPr lang="ru-RU" sz="1400" b="1" dirty="0">
                          <a:effectLst/>
                        </a:rPr>
                        <a:t>Страны и фильмы</a:t>
                      </a:r>
                      <a:endParaRPr lang="ru-RU" sz="14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64770" marR="93345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 b="0" dirty="0">
                          <a:effectLst/>
                        </a:rPr>
                        <a:t>Таблица отображает связь многие ко многим между фильмами и странами. </a:t>
                      </a:r>
                      <a:endParaRPr lang="ru-RU" sz="14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387182484"/>
                  </a:ext>
                </a:extLst>
              </a:tr>
              <a:tr h="37935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ru-RU" sz="1400">
                          <a:effectLst/>
                        </a:rPr>
                        <a:t>10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6995" algn="just">
                        <a:lnSpc>
                          <a:spcPct val="107000"/>
                        </a:lnSpc>
                      </a:pPr>
                      <a:r>
                        <a:rPr lang="ru-RU" sz="1400" b="1" dirty="0">
                          <a:effectLst/>
                        </a:rPr>
                        <a:t>Студии и фильмы</a:t>
                      </a:r>
                      <a:endParaRPr lang="ru-RU" sz="14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64770" marR="93345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 b="0" dirty="0">
                          <a:effectLst/>
                        </a:rPr>
                        <a:t>Таблица отображает связь многие ко многим между фильмами и киностудиями. </a:t>
                      </a:r>
                      <a:endParaRPr lang="ru-RU" sz="14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109460179"/>
                  </a:ext>
                </a:extLst>
              </a:tr>
              <a:tr h="37935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ru-RU" sz="1400">
                          <a:effectLst/>
                        </a:rPr>
                        <a:t>11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6995" algn="just">
                        <a:lnSpc>
                          <a:spcPct val="107000"/>
                        </a:lnSpc>
                      </a:pPr>
                      <a:r>
                        <a:rPr lang="ru-RU" sz="1400" b="1" dirty="0">
                          <a:effectLst/>
                        </a:rPr>
                        <a:t>Жанры и фильмы</a:t>
                      </a:r>
                      <a:endParaRPr lang="ru-RU" sz="14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64770" marR="93345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 b="0" dirty="0">
                          <a:effectLst/>
                        </a:rPr>
                        <a:t>Таблица отображает связь многие ко многим между фильмами и жанрами. </a:t>
                      </a:r>
                      <a:endParaRPr lang="ru-RU" sz="14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334381019"/>
                  </a:ext>
                </a:extLst>
              </a:tr>
              <a:tr h="37935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ru-RU" sz="1400">
                          <a:effectLst/>
                        </a:rPr>
                        <a:t>12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6995" algn="l">
                        <a:lnSpc>
                          <a:spcPct val="107000"/>
                        </a:lnSpc>
                      </a:pPr>
                      <a:r>
                        <a:rPr lang="ru-RU" sz="1400" b="1" dirty="0">
                          <a:effectLst/>
                        </a:rPr>
                        <a:t>Виды носителей и фильмы</a:t>
                      </a:r>
                      <a:endParaRPr lang="ru-RU" sz="14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64770" marR="93345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 b="0" dirty="0">
                          <a:effectLst/>
                        </a:rPr>
                        <a:t>Таблица отображает связь многие ко многим между фильмами и видами носителей. </a:t>
                      </a:r>
                      <a:endParaRPr lang="ru-RU" sz="14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4186429992"/>
                  </a:ext>
                </a:extLst>
              </a:tr>
              <a:tr h="37935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ru-RU" sz="1400" dirty="0">
                          <a:effectLst/>
                        </a:rPr>
                        <a:t>13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6995" algn="l">
                        <a:lnSpc>
                          <a:spcPct val="107000"/>
                        </a:lnSpc>
                      </a:pPr>
                      <a:r>
                        <a:rPr lang="ru-RU" sz="1400" b="1" dirty="0">
                          <a:effectLst/>
                        </a:rPr>
                        <a:t>Участники и фильмы</a:t>
                      </a:r>
                      <a:endParaRPr lang="ru-RU" sz="14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64770" marR="93345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 b="0" dirty="0">
                          <a:effectLst/>
                        </a:rPr>
                        <a:t>Таблица отображает связь многие ко многим между фильмами и участниками. </a:t>
                      </a:r>
                      <a:endParaRPr lang="ru-RU" sz="14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5281959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3431704" y="477376"/>
            <a:ext cx="6048672" cy="662883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ru-RU" sz="2800" b="1" dirty="0">
                <a:solidFill>
                  <a:schemeClr val="accent1">
                    <a:lumMod val="75000"/>
                  </a:schemeClr>
                </a:solidFill>
              </a:rPr>
              <a:t>Список атрибутов</a:t>
            </a:r>
            <a:endParaRPr lang="ru-RU" sz="2800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 bwMode="auto">
          <a:xfrm>
            <a:off x="1811524" y="182962"/>
            <a:ext cx="1224136" cy="957297"/>
          </a:xfrm>
          <a:prstGeom prst="rect">
            <a:avLst/>
          </a:prstGeom>
          <a:noFill/>
          <a:ln>
            <a:noFill/>
          </a:ln>
          <a:effectLst/>
        </p:spPr>
      </p:pic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3546CBC1-E0E4-479F-B76D-DF02A03436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8869702"/>
              </p:ext>
            </p:extLst>
          </p:nvPr>
        </p:nvGraphicFramePr>
        <p:xfrm>
          <a:off x="3287688" y="1268760"/>
          <a:ext cx="5943600" cy="3530094"/>
        </p:xfrm>
        <a:graphic>
          <a:graphicData uri="http://schemas.openxmlformats.org/drawingml/2006/table">
            <a:tbl>
              <a:tblPr firstRow="1" firstCol="1" lastCol="1" bandRow="1" bandCol="1">
                <a:tableStyleId>{B301B821-A1FF-4177-AEE7-76D212191A09}</a:tableStyleId>
              </a:tblPr>
              <a:tblGrid>
                <a:gridCol w="989965">
                  <a:extLst>
                    <a:ext uri="{9D8B030D-6E8A-4147-A177-3AD203B41FA5}">
                      <a16:colId xmlns:a16="http://schemas.microsoft.com/office/drawing/2014/main" val="1834826825"/>
                    </a:ext>
                  </a:extLst>
                </a:gridCol>
                <a:gridCol w="1528735">
                  <a:extLst>
                    <a:ext uri="{9D8B030D-6E8A-4147-A177-3AD203B41FA5}">
                      <a16:colId xmlns:a16="http://schemas.microsoft.com/office/drawing/2014/main" val="1549523687"/>
                    </a:ext>
                  </a:extLst>
                </a:gridCol>
                <a:gridCol w="3424900">
                  <a:extLst>
                    <a:ext uri="{9D8B030D-6E8A-4147-A177-3AD203B41FA5}">
                      <a16:colId xmlns:a16="http://schemas.microsoft.com/office/drawing/2014/main" val="2326068351"/>
                    </a:ext>
                  </a:extLst>
                </a:gridCol>
              </a:tblGrid>
              <a:tr h="18986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ru-RU" sz="1400" dirty="0">
                          <a:solidFill>
                            <a:schemeClr val="tx1"/>
                          </a:solidFill>
                          <a:effectLst/>
                        </a:rPr>
                        <a:t>Ключевое поле</a:t>
                      </a:r>
                      <a:endParaRPr lang="ru-RU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6995" algn="ctr">
                        <a:lnSpc>
                          <a:spcPct val="107000"/>
                        </a:lnSpc>
                      </a:pPr>
                      <a:r>
                        <a:rPr lang="ru-RU" sz="1400" dirty="0">
                          <a:solidFill>
                            <a:schemeClr val="tx1"/>
                          </a:solidFill>
                          <a:effectLst/>
                        </a:rPr>
                        <a:t>Название</a:t>
                      </a:r>
                      <a:endParaRPr lang="ru-RU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ru-RU" sz="1400" dirty="0">
                          <a:solidFill>
                            <a:schemeClr val="tx1"/>
                          </a:solidFill>
                          <a:effectLst/>
                        </a:rPr>
                        <a:t>Назначение</a:t>
                      </a:r>
                      <a:endParaRPr lang="ru-RU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6090102"/>
                  </a:ext>
                </a:extLst>
              </a:tr>
              <a:tr h="189865">
                <a:tc>
                  <a:txBody>
                    <a:bodyPr/>
                    <a:lstStyle/>
                    <a:p>
                      <a:pPr indent="90170" algn="ctr">
                        <a:lnSpc>
                          <a:spcPct val="107000"/>
                        </a:lnSpc>
                      </a:pPr>
                      <a:r>
                        <a:rPr lang="ru-RU" sz="1400" dirty="0">
                          <a:effectLst/>
                        </a:rPr>
                        <a:t>ПК (первичный ключ)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86995" algn="l">
                        <a:lnSpc>
                          <a:spcPct val="107000"/>
                        </a:lnSpc>
                      </a:pPr>
                      <a:r>
                        <a:rPr lang="ru-RU" sz="1400" dirty="0">
                          <a:effectLst/>
                        </a:rPr>
                        <a:t>Код фильма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64770" algn="just">
                        <a:lnSpc>
                          <a:spcPct val="107000"/>
                        </a:lnSpc>
                      </a:pPr>
                      <a:r>
                        <a:rPr lang="ru-RU" sz="1400" b="0" dirty="0">
                          <a:effectLst/>
                        </a:rPr>
                        <a:t>Ключевое поле, предназначенное для однозначной идентификации каждой записи в таблице. Представляет собой первичный ключ. Это уникальное значение, соответствующее каждому фильму.</a:t>
                      </a:r>
                      <a:endParaRPr lang="ru-RU" sz="14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084779032"/>
                  </a:ext>
                </a:extLst>
              </a:tr>
              <a:tr h="18859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ru-RU" sz="1400">
                          <a:effectLst/>
                        </a:rPr>
                        <a:t> 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86995" algn="l">
                        <a:lnSpc>
                          <a:spcPct val="107000"/>
                        </a:lnSpc>
                      </a:pPr>
                      <a:r>
                        <a:rPr lang="ru-RU" sz="1400" dirty="0">
                          <a:effectLst/>
                        </a:rPr>
                        <a:t>Название фильма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64770" algn="just">
                        <a:lnSpc>
                          <a:spcPct val="107000"/>
                        </a:lnSpc>
                      </a:pPr>
                      <a:r>
                        <a:rPr lang="ru-RU" sz="1400" b="0" dirty="0">
                          <a:effectLst/>
                        </a:rPr>
                        <a:t> </a:t>
                      </a:r>
                      <a:endParaRPr lang="ru-RU" sz="14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51152045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ru-RU" sz="1400">
                          <a:effectLst/>
                        </a:rPr>
                        <a:t> 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86995" algn="l">
                        <a:lnSpc>
                          <a:spcPct val="107000"/>
                        </a:lnSpc>
                      </a:pPr>
                      <a:r>
                        <a:rPr lang="ru-RU" sz="1400" dirty="0">
                          <a:effectLst/>
                        </a:rPr>
                        <a:t>Год выпуска фильма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64770" algn="just">
                        <a:lnSpc>
                          <a:spcPct val="107000"/>
                        </a:lnSpc>
                      </a:pPr>
                      <a:r>
                        <a:rPr lang="ru-RU" sz="1400" b="0" dirty="0">
                          <a:effectLst/>
                        </a:rPr>
                        <a:t> </a:t>
                      </a:r>
                      <a:endParaRPr lang="ru-RU" sz="14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222815989"/>
                  </a:ext>
                </a:extLst>
              </a:tr>
              <a:tr h="18986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ru-RU" sz="1400">
                          <a:effectLst/>
                        </a:rPr>
                        <a:t> 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86995" algn="l">
                        <a:lnSpc>
                          <a:spcPct val="107000"/>
                        </a:lnSpc>
                      </a:pPr>
                      <a:r>
                        <a:rPr lang="ru-RU" sz="1400" dirty="0">
                          <a:effectLst/>
                        </a:rPr>
                        <a:t>Аннотация к фильму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64770" algn="just">
                        <a:lnSpc>
                          <a:spcPct val="107000"/>
                        </a:lnSpc>
                      </a:pPr>
                      <a:r>
                        <a:rPr lang="ru-RU" sz="1400" b="0" dirty="0">
                          <a:effectLst/>
                        </a:rPr>
                        <a:t>Краткое описание сюжета фильма</a:t>
                      </a:r>
                      <a:endParaRPr lang="ru-RU" sz="14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707035711"/>
                  </a:ext>
                </a:extLst>
              </a:tr>
              <a:tr h="18986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ru-RU" sz="1400">
                          <a:effectLst/>
                        </a:rPr>
                        <a:t> 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86995" algn="l">
                        <a:lnSpc>
                          <a:spcPct val="107000"/>
                        </a:lnSpc>
                      </a:pPr>
                      <a:r>
                        <a:rPr lang="ru-RU" sz="1400" dirty="0">
                          <a:effectLst/>
                        </a:rPr>
                        <a:t>Рейтинг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64770" algn="just">
                        <a:lnSpc>
                          <a:spcPct val="107000"/>
                        </a:lnSpc>
                      </a:pPr>
                      <a:endParaRPr lang="ru-RU" sz="14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4084262410"/>
                  </a:ext>
                </a:extLst>
              </a:tr>
              <a:tr h="18859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ru-RU" sz="1400">
                          <a:effectLst/>
                        </a:rPr>
                        <a:t> 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86995" algn="l">
                        <a:lnSpc>
                          <a:spcPct val="107000"/>
                        </a:lnSpc>
                      </a:pPr>
                      <a:r>
                        <a:rPr lang="ru-RU" sz="1400" dirty="0">
                          <a:effectLst/>
                        </a:rPr>
                        <a:t>Бюджет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64770" marR="93345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 b="0" dirty="0">
                          <a:effectLst/>
                        </a:rPr>
                        <a:t> </a:t>
                      </a:r>
                      <a:endParaRPr lang="ru-RU" sz="14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21501555"/>
                  </a:ext>
                </a:extLst>
              </a:tr>
              <a:tr h="38036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ru-RU" sz="1400">
                          <a:effectLst/>
                        </a:rPr>
                        <a:t> 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86995" algn="l">
                        <a:lnSpc>
                          <a:spcPct val="107000"/>
                        </a:lnSpc>
                      </a:pPr>
                      <a:r>
                        <a:rPr lang="ru-RU" sz="1400" dirty="0">
                          <a:effectLst/>
                        </a:rPr>
                        <a:t>Длительность фильма (минуты)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64770" marR="93345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 b="0" dirty="0">
                          <a:effectLst/>
                        </a:rPr>
                        <a:t> </a:t>
                      </a:r>
                      <a:endParaRPr lang="ru-RU" sz="14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414394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EAC3C49-2157-4C81-8A0A-46BBA4883928}"/>
              </a:ext>
            </a:extLst>
          </p:cNvPr>
          <p:cNvSpPr txBox="1"/>
          <p:nvPr/>
        </p:nvSpPr>
        <p:spPr bwMode="auto">
          <a:xfrm>
            <a:off x="3035660" y="4916558"/>
            <a:ext cx="6120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Список атрибутов сущности «Фильмы»</a:t>
            </a:r>
          </a:p>
        </p:txBody>
      </p:sp>
    </p:spTree>
    <p:extLst>
      <p:ext uri="{BB962C8B-B14F-4D97-AF65-F5344CB8AC3E}">
        <p14:creationId xmlns:p14="http://schemas.microsoft.com/office/powerpoint/2010/main" val="35146183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3431704" y="477376"/>
            <a:ext cx="6048672" cy="662883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ru-RU" sz="2800" b="1" dirty="0">
                <a:solidFill>
                  <a:schemeClr val="accent1">
                    <a:lumMod val="75000"/>
                  </a:schemeClr>
                </a:solidFill>
              </a:rPr>
              <a:t>Создание инфологической модели</a:t>
            </a:r>
            <a:endParaRPr lang="ru-RU" sz="2800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 bwMode="auto">
          <a:xfrm>
            <a:off x="1811524" y="182962"/>
            <a:ext cx="1224136" cy="957297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62BF49E-37E4-46D7-903A-58F4C679319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391" r="3397"/>
          <a:stretch/>
        </p:blipFill>
        <p:spPr>
          <a:xfrm>
            <a:off x="1994683" y="1700808"/>
            <a:ext cx="4536504" cy="349135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0CCC6E4-6576-463F-A284-247B95B247D2}"/>
              </a:ext>
            </a:extLst>
          </p:cNvPr>
          <p:cNvSpPr txBox="1"/>
          <p:nvPr/>
        </p:nvSpPr>
        <p:spPr bwMode="auto">
          <a:xfrm>
            <a:off x="2567608" y="5192167"/>
            <a:ext cx="30603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Инфологическая модель «Фильмы»</a:t>
            </a:r>
          </a:p>
        </p:txBody>
      </p: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B1D088C9-8B2B-4EA2-B1C9-FD52B8C24B5D}"/>
              </a:ext>
            </a:extLst>
          </p:cNvPr>
          <p:cNvCxnSpPr>
            <a:cxnSpLocks/>
          </p:cNvCxnSpPr>
          <p:nvPr/>
        </p:nvCxnSpPr>
        <p:spPr bwMode="auto">
          <a:xfrm>
            <a:off x="6744072" y="1719325"/>
            <a:ext cx="0" cy="341935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aphicFrame>
        <p:nvGraphicFramePr>
          <p:cNvPr id="13" name="Таблица 12">
            <a:extLst>
              <a:ext uri="{FF2B5EF4-FFF2-40B4-BE49-F238E27FC236}">
                <a16:creationId xmlns:a16="http://schemas.microsoft.com/office/drawing/2014/main" id="{78C3CFA5-5E70-4BE5-AD96-6423D6E4BA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5283092"/>
              </p:ext>
            </p:extLst>
          </p:nvPr>
        </p:nvGraphicFramePr>
        <p:xfrm>
          <a:off x="7032104" y="1739925"/>
          <a:ext cx="3024336" cy="3413125"/>
        </p:xfrm>
        <a:graphic>
          <a:graphicData uri="http://schemas.openxmlformats.org/drawingml/2006/table">
            <a:tbl>
              <a:tblPr firstRow="1" firstCol="1" lastCol="1" bandRow="1" bandCol="1">
                <a:tableStyleId>{B301B821-A1FF-4177-AEE7-76D212191A09}</a:tableStyleId>
              </a:tblPr>
              <a:tblGrid>
                <a:gridCol w="400674">
                  <a:extLst>
                    <a:ext uri="{9D8B030D-6E8A-4147-A177-3AD203B41FA5}">
                      <a16:colId xmlns:a16="http://schemas.microsoft.com/office/drawing/2014/main" val="1652648635"/>
                    </a:ext>
                  </a:extLst>
                </a:gridCol>
                <a:gridCol w="858914">
                  <a:extLst>
                    <a:ext uri="{9D8B030D-6E8A-4147-A177-3AD203B41FA5}">
                      <a16:colId xmlns:a16="http://schemas.microsoft.com/office/drawing/2014/main" val="3195897950"/>
                    </a:ext>
                  </a:extLst>
                </a:gridCol>
                <a:gridCol w="1764748">
                  <a:extLst>
                    <a:ext uri="{9D8B030D-6E8A-4147-A177-3AD203B41FA5}">
                      <a16:colId xmlns:a16="http://schemas.microsoft.com/office/drawing/2014/main" val="2316799875"/>
                    </a:ext>
                  </a:extLst>
                </a:gridCol>
              </a:tblGrid>
              <a:tr h="38036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</a:rPr>
                        <a:t>№</a:t>
                      </a:r>
                      <a:endParaRPr lang="ru-RU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</a:rPr>
                        <a:t>Название связи</a:t>
                      </a:r>
                      <a:endParaRPr lang="ru-RU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925" marR="12382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</a:rPr>
                        <a:t>Сущности, участвующие в связи</a:t>
                      </a:r>
                      <a:endParaRPr lang="ru-RU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9232629"/>
                  </a:ext>
                </a:extLst>
              </a:tr>
              <a:tr h="37782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ru-RU" sz="1200">
                          <a:effectLst/>
                        </a:rPr>
                        <a:t>1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ru-RU" sz="1200" dirty="0">
                          <a:effectLst/>
                        </a:rPr>
                        <a:t>1:М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925" marR="123825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 b="0" dirty="0">
                          <a:effectLst/>
                        </a:rPr>
                        <a:t>Страны - киностудии</a:t>
                      </a:r>
                      <a:endParaRPr lang="ru-RU" sz="12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2479506"/>
                  </a:ext>
                </a:extLst>
              </a:tr>
              <a:tr h="37909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ru-RU" sz="1200">
                          <a:effectLst/>
                        </a:rPr>
                        <a:t>2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ru-RU" sz="1200" dirty="0">
                          <a:effectLst/>
                        </a:rPr>
                        <a:t>1:М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925" marR="123825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 b="0" dirty="0">
                          <a:effectLst/>
                        </a:rPr>
                        <a:t>Роли - участники</a:t>
                      </a:r>
                      <a:endParaRPr lang="ru-RU" sz="12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5239965"/>
                  </a:ext>
                </a:extLst>
              </a:tr>
              <a:tr h="37909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ru-RU" sz="1200">
                          <a:effectLst/>
                        </a:rPr>
                        <a:t>3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ru-RU" sz="1200" dirty="0">
                          <a:effectLst/>
                        </a:rPr>
                        <a:t>1:М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925" marR="123825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 b="0" dirty="0">
                          <a:effectLst/>
                        </a:rPr>
                        <a:t>Жанр - поджанр</a:t>
                      </a:r>
                      <a:endParaRPr lang="ru-RU" sz="12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0056603"/>
                  </a:ext>
                </a:extLst>
              </a:tr>
              <a:tr h="37909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ru-RU" sz="1200">
                          <a:effectLst/>
                        </a:rPr>
                        <a:t>4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ru-RU" sz="1200" dirty="0">
                          <a:effectLst/>
                        </a:rPr>
                        <a:t>М:М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925" marR="123825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 b="0" dirty="0">
                          <a:effectLst/>
                        </a:rPr>
                        <a:t>Фильмы и студии</a:t>
                      </a:r>
                      <a:endParaRPr lang="ru-RU" sz="12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347655"/>
                  </a:ext>
                </a:extLst>
              </a:tr>
              <a:tr h="38036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ru-RU" sz="1200">
                          <a:effectLst/>
                        </a:rPr>
                        <a:t>5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ru-RU" sz="1200" dirty="0">
                          <a:effectLst/>
                        </a:rPr>
                        <a:t>М:М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925" marR="123825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 b="0" dirty="0">
                          <a:effectLst/>
                        </a:rPr>
                        <a:t>Фильмы и участники</a:t>
                      </a:r>
                      <a:endParaRPr lang="ru-RU" sz="12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97894487"/>
                  </a:ext>
                </a:extLst>
              </a:tr>
              <a:tr h="37909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ru-RU" sz="1200">
                          <a:effectLst/>
                        </a:rPr>
                        <a:t>6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ru-RU" sz="1200" dirty="0">
                          <a:effectLst/>
                        </a:rPr>
                        <a:t>М:М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925" marR="123825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 b="0" dirty="0">
                          <a:effectLst/>
                        </a:rPr>
                        <a:t>Фильмы и жанры</a:t>
                      </a:r>
                      <a:endParaRPr lang="ru-RU" sz="12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7621903"/>
                  </a:ext>
                </a:extLst>
              </a:tr>
              <a:tr h="37909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ru-RU" sz="1200">
                          <a:effectLst/>
                        </a:rPr>
                        <a:t>7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ru-RU" sz="1200" dirty="0">
                          <a:effectLst/>
                        </a:rPr>
                        <a:t>М:М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925" marR="123825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 b="0" dirty="0">
                          <a:effectLst/>
                        </a:rPr>
                        <a:t>Фильмы и типы носителей</a:t>
                      </a:r>
                      <a:endParaRPr lang="ru-RU" sz="12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5337315"/>
                  </a:ext>
                </a:extLst>
              </a:tr>
              <a:tr h="37909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ru-RU" sz="1200">
                          <a:effectLst/>
                        </a:rPr>
                        <a:t>8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ru-RU" sz="1200" dirty="0">
                          <a:effectLst/>
                        </a:rPr>
                        <a:t>М:М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925" marR="123825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 b="0" dirty="0">
                          <a:effectLst/>
                        </a:rPr>
                        <a:t>Фильмы и страны</a:t>
                      </a:r>
                      <a:endParaRPr lang="ru-RU" sz="12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8086274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728BF7BB-E17B-4D27-926B-1FA500FED84A}"/>
              </a:ext>
            </a:extLst>
          </p:cNvPr>
          <p:cNvSpPr txBox="1"/>
          <p:nvPr/>
        </p:nvSpPr>
        <p:spPr bwMode="auto">
          <a:xfrm>
            <a:off x="6888088" y="5192166"/>
            <a:ext cx="30603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Связи</a:t>
            </a:r>
          </a:p>
        </p:txBody>
      </p:sp>
    </p:spTree>
    <p:extLst>
      <p:ext uri="{BB962C8B-B14F-4D97-AF65-F5344CB8AC3E}">
        <p14:creationId xmlns:p14="http://schemas.microsoft.com/office/powerpoint/2010/main" val="41399419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3431704" y="477376"/>
            <a:ext cx="6048672" cy="662883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ru-RU" sz="2800" b="1" dirty="0">
                <a:solidFill>
                  <a:schemeClr val="accent1">
                    <a:lumMod val="75000"/>
                  </a:schemeClr>
                </a:solidFill>
              </a:rPr>
              <a:t>Создание </a:t>
            </a:r>
            <a:r>
              <a:rPr lang="ru-RU" sz="2800" b="1" dirty="0" err="1">
                <a:solidFill>
                  <a:schemeClr val="accent1">
                    <a:lumMod val="75000"/>
                  </a:schemeClr>
                </a:solidFill>
              </a:rPr>
              <a:t>даталогической</a:t>
            </a:r>
            <a:r>
              <a:rPr lang="ru-RU" sz="2800" b="1" dirty="0">
                <a:solidFill>
                  <a:schemeClr val="accent1">
                    <a:lumMod val="75000"/>
                  </a:schemeClr>
                </a:solidFill>
              </a:rPr>
              <a:t> модели</a:t>
            </a:r>
            <a:endParaRPr lang="ru-RU" sz="2800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 bwMode="auto">
          <a:xfrm>
            <a:off x="1811524" y="182962"/>
            <a:ext cx="1224136" cy="957297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57D4804-5838-4282-8BEB-417E6D68E06C}"/>
              </a:ext>
            </a:extLst>
          </p:cNvPr>
          <p:cNvPicPr/>
          <p:nvPr/>
        </p:nvPicPr>
        <p:blipFill rotWithShape="1">
          <a:blip r:embed="rId3"/>
          <a:srcRect b="3900"/>
          <a:stretch/>
        </p:blipFill>
        <p:spPr bwMode="auto">
          <a:xfrm>
            <a:off x="3215680" y="981075"/>
            <a:ext cx="6162040" cy="489585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545FC52-E463-4125-9CED-E92A9B76A9F6}"/>
              </a:ext>
            </a:extLst>
          </p:cNvPr>
          <p:cNvSpPr txBox="1"/>
          <p:nvPr/>
        </p:nvSpPr>
        <p:spPr bwMode="auto">
          <a:xfrm>
            <a:off x="3575720" y="6000851"/>
            <a:ext cx="48245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/>
              <a:t>Даталогическая модель «Фильмы»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459247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3431704" y="477376"/>
            <a:ext cx="6048672" cy="662883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ru-RU" sz="2800" b="1" dirty="0">
                <a:solidFill>
                  <a:schemeClr val="accent1">
                    <a:lumMod val="75000"/>
                  </a:schemeClr>
                </a:solidFill>
              </a:rPr>
              <a:t>Выбор СУБД</a:t>
            </a:r>
            <a:endParaRPr lang="ru-RU" sz="2800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 bwMode="auto">
          <a:xfrm>
            <a:off x="1811524" y="182962"/>
            <a:ext cx="1224136" cy="95729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4698834-6A9E-41DC-9404-1D73E052DF74}"/>
              </a:ext>
            </a:extLst>
          </p:cNvPr>
          <p:cNvSpPr txBox="1"/>
          <p:nvPr/>
        </p:nvSpPr>
        <p:spPr bwMode="auto">
          <a:xfrm>
            <a:off x="5879976" y="1988840"/>
            <a:ext cx="396044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Преимущества </a:t>
            </a:r>
            <a:r>
              <a:rPr lang="en-US" dirty="0"/>
              <a:t>PostgreSQL:</a:t>
            </a: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Бесплатное ПО;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Простое в освоении;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Производительное;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Надежное;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Широкий спектр возможностей.</a:t>
            </a:r>
            <a:endParaRPr lang="en-US" dirty="0"/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dirty="0"/>
          </a:p>
          <a:p>
            <a:endParaRPr lang="en-US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9E97DE8-069B-4BD2-9A23-71AA825436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0295" y="1412776"/>
            <a:ext cx="2655660" cy="2952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63686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3431704" y="325603"/>
            <a:ext cx="6048672" cy="662883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ru-RU" sz="2800" b="1" dirty="0">
                <a:solidFill>
                  <a:schemeClr val="accent1">
                    <a:lumMod val="75000"/>
                  </a:schemeClr>
                </a:solidFill>
              </a:rPr>
              <a:t>Создание БД</a:t>
            </a:r>
            <a:endParaRPr lang="ru-RU" sz="2800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 bwMode="auto">
          <a:xfrm>
            <a:off x="1811524" y="182962"/>
            <a:ext cx="1224136" cy="95729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4698834-6A9E-41DC-9404-1D73E052DF74}"/>
              </a:ext>
            </a:extLst>
          </p:cNvPr>
          <p:cNvSpPr txBox="1"/>
          <p:nvPr/>
        </p:nvSpPr>
        <p:spPr bwMode="auto">
          <a:xfrm>
            <a:off x="1984886" y="1556793"/>
            <a:ext cx="396044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8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create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8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table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8E00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film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endParaRPr lang="ru-RU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   </a:t>
            </a:r>
            <a:r>
              <a:rPr lang="en-US" sz="1400" dirty="0" err="1">
                <a:solidFill>
                  <a:srgbClr val="006464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film_id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serial </a:t>
            </a:r>
            <a:r>
              <a:rPr lang="en-US" sz="1400" b="1" dirty="0">
                <a:solidFill>
                  <a:srgbClr val="8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primary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8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key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endParaRPr lang="ru-RU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   </a:t>
            </a:r>
            <a:r>
              <a:rPr lang="en-US" sz="1400" dirty="0">
                <a:solidFill>
                  <a:srgbClr val="006464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name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00008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varchar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50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 </a:t>
            </a:r>
            <a:r>
              <a:rPr lang="en-US" sz="1400" b="1" dirty="0">
                <a:solidFill>
                  <a:srgbClr val="8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not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8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null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endParaRPr lang="ru-RU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   </a:t>
            </a:r>
            <a:r>
              <a:rPr lang="en-US" sz="1400" dirty="0" err="1">
                <a:solidFill>
                  <a:srgbClr val="006464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year_release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00008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8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not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8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null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endParaRPr lang="ru-RU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   </a:t>
            </a:r>
            <a:r>
              <a:rPr lang="en-US" sz="1400" dirty="0">
                <a:solidFill>
                  <a:srgbClr val="006464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annotation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00008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varchar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500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),</a:t>
            </a:r>
            <a:endParaRPr lang="ru-RU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   </a:t>
            </a:r>
            <a:r>
              <a:rPr lang="en-US" sz="1400" dirty="0">
                <a:solidFill>
                  <a:srgbClr val="006464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rating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00008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numeric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2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1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),</a:t>
            </a:r>
            <a:endParaRPr lang="ru-RU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   </a:t>
            </a:r>
            <a:r>
              <a:rPr lang="en-US" sz="1400" dirty="0">
                <a:solidFill>
                  <a:srgbClr val="006464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budget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00008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numeric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15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),</a:t>
            </a:r>
            <a:endParaRPr lang="ru-RU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   </a:t>
            </a:r>
            <a:r>
              <a:rPr lang="en-US" sz="1400" dirty="0" err="1">
                <a:solidFill>
                  <a:srgbClr val="006464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duration_minutes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00008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8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not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8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null</a:t>
            </a:r>
            <a:endParaRPr lang="ru-RU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;</a:t>
            </a:r>
            <a:endParaRPr lang="ru-RU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US" sz="1400" dirty="0"/>
          </a:p>
          <a:p>
            <a:r>
              <a:rPr lang="en-US" sz="1400" b="1" dirty="0">
                <a:solidFill>
                  <a:srgbClr val="8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create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8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table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8E00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country_film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endParaRPr lang="ru-RU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   </a:t>
            </a:r>
            <a:r>
              <a:rPr lang="en-US" sz="1400" dirty="0" err="1">
                <a:solidFill>
                  <a:srgbClr val="006464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film_id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00008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8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not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8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null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endParaRPr lang="ru-RU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   </a:t>
            </a:r>
            <a:r>
              <a:rPr lang="en-US" sz="1400" dirty="0" err="1">
                <a:solidFill>
                  <a:srgbClr val="006464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country_id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00008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8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not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8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null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endParaRPr lang="ru-RU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   </a:t>
            </a:r>
            <a:r>
              <a:rPr lang="en-US" sz="1400" b="1" dirty="0">
                <a:solidFill>
                  <a:srgbClr val="8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primary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8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key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(</a:t>
            </a:r>
            <a:r>
              <a:rPr lang="en-US" sz="1400" dirty="0" err="1">
                <a:solidFill>
                  <a:srgbClr val="006464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film_id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 </a:t>
            </a:r>
            <a:r>
              <a:rPr lang="en-US" sz="1400" dirty="0" err="1">
                <a:solidFill>
                  <a:srgbClr val="006464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country_id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),</a:t>
            </a:r>
            <a:endParaRPr lang="ru-RU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   </a:t>
            </a:r>
            <a:r>
              <a:rPr lang="en-US" sz="1400" b="1" dirty="0">
                <a:solidFill>
                  <a:srgbClr val="8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foreign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8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key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(</a:t>
            </a:r>
            <a:r>
              <a:rPr lang="en-US" sz="1400" dirty="0" err="1">
                <a:solidFill>
                  <a:srgbClr val="006464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film_id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 </a:t>
            </a:r>
            <a:r>
              <a:rPr lang="en-US" sz="1400" b="1" dirty="0">
                <a:solidFill>
                  <a:srgbClr val="8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references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8E00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film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400" dirty="0" err="1">
                <a:solidFill>
                  <a:srgbClr val="006464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film_id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),</a:t>
            </a:r>
            <a:endParaRPr lang="ru-RU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   </a:t>
            </a:r>
            <a:r>
              <a:rPr lang="en-US" sz="1400" b="1" dirty="0">
                <a:solidFill>
                  <a:srgbClr val="8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foreign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8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key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(</a:t>
            </a:r>
            <a:r>
              <a:rPr lang="en-US" sz="1400" dirty="0" err="1">
                <a:solidFill>
                  <a:srgbClr val="006464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country_id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 </a:t>
            </a:r>
            <a:r>
              <a:rPr lang="en-US" sz="1400" b="1" dirty="0">
                <a:solidFill>
                  <a:srgbClr val="8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references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8E00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country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400" dirty="0" err="1">
                <a:solidFill>
                  <a:srgbClr val="006464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country_id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lang="ru-RU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;</a:t>
            </a:r>
            <a:endParaRPr lang="ru-RU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US" sz="1400" dirty="0"/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DB378958-B74F-480F-B37C-FB4ED48F77B9}"/>
              </a:ext>
            </a:extLst>
          </p:cNvPr>
          <p:cNvCxnSpPr>
            <a:cxnSpLocks/>
          </p:cNvCxnSpPr>
          <p:nvPr/>
        </p:nvCxnSpPr>
        <p:spPr bwMode="auto">
          <a:xfrm>
            <a:off x="5951984" y="1196752"/>
            <a:ext cx="0" cy="4908994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6885A1E-F68E-45FB-8289-91A182E95C09}"/>
              </a:ext>
            </a:extLst>
          </p:cNvPr>
          <p:cNvPicPr/>
          <p:nvPr/>
        </p:nvPicPr>
        <p:blipFill rotWithShape="1">
          <a:blip r:embed="rId3"/>
          <a:srcRect t="4016" r="5582" b="1689"/>
          <a:stretch/>
        </p:blipFill>
        <p:spPr bwMode="auto">
          <a:xfrm>
            <a:off x="6312024" y="1140258"/>
            <a:ext cx="3895090" cy="491363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8A3E5F9-DD3D-4271-9A2B-BC213EEDFE05}"/>
              </a:ext>
            </a:extLst>
          </p:cNvPr>
          <p:cNvSpPr txBox="1"/>
          <p:nvPr/>
        </p:nvSpPr>
        <p:spPr bwMode="auto">
          <a:xfrm>
            <a:off x="6672065" y="6053888"/>
            <a:ext cx="2916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Диаграмма БД «Фильмы»</a:t>
            </a:r>
          </a:p>
        </p:txBody>
      </p:sp>
    </p:spTree>
    <p:extLst>
      <p:ext uri="{BB962C8B-B14F-4D97-AF65-F5344CB8AC3E}">
        <p14:creationId xmlns:p14="http://schemas.microsoft.com/office/powerpoint/2010/main" val="30679861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3359696" y="269109"/>
            <a:ext cx="6048672" cy="662883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ru-RU" sz="2800" b="1" dirty="0">
                <a:solidFill>
                  <a:schemeClr val="accent1">
                    <a:lumMod val="75000"/>
                  </a:schemeClr>
                </a:solidFill>
              </a:rPr>
              <a:t>Заполнение БД</a:t>
            </a:r>
            <a:endParaRPr lang="ru-RU" sz="2800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 bwMode="auto">
          <a:xfrm>
            <a:off x="1811524" y="182962"/>
            <a:ext cx="1224136" cy="95729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4698834-6A9E-41DC-9404-1D73E052DF74}"/>
              </a:ext>
            </a:extLst>
          </p:cNvPr>
          <p:cNvSpPr txBox="1"/>
          <p:nvPr/>
        </p:nvSpPr>
        <p:spPr bwMode="auto">
          <a:xfrm>
            <a:off x="1984886" y="1556792"/>
            <a:ext cx="396044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8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INSERT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8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INTO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8E00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country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(</a:t>
            </a:r>
            <a:r>
              <a:rPr lang="en-US" sz="1400" dirty="0">
                <a:solidFill>
                  <a:srgbClr val="006464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name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 </a:t>
            </a:r>
            <a:r>
              <a:rPr lang="en-US" sz="1400" dirty="0">
                <a:solidFill>
                  <a:srgbClr val="006464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continent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 </a:t>
            </a:r>
            <a:r>
              <a:rPr lang="en-US" sz="1400" b="1" dirty="0">
                <a:solidFill>
                  <a:srgbClr val="8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VALUES</a:t>
            </a:r>
            <a:endParaRPr lang="ru-RU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'Россия'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 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'Европа'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),</a:t>
            </a:r>
            <a:endParaRPr lang="ru-RU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'США'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 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'Северная Америка'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),</a:t>
            </a:r>
            <a:endParaRPr lang="ru-RU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'Великобритания'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 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'Европа'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),</a:t>
            </a:r>
            <a:endParaRPr lang="ru-RU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'Франция'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 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'Европа'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),</a:t>
            </a:r>
            <a:endParaRPr lang="ru-RU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'Япония'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 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'Азия'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),</a:t>
            </a:r>
            <a:endParaRPr lang="ru-RU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'Китай'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 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'Азия'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),</a:t>
            </a:r>
            <a:endParaRPr lang="ru-RU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'Индия'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 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'Азия'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),</a:t>
            </a:r>
            <a:endParaRPr lang="ru-RU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'Италия'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 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'Европа'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),</a:t>
            </a:r>
            <a:endParaRPr lang="ru-RU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'Канада'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 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'Северная Америка'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),</a:t>
            </a:r>
            <a:endParaRPr lang="ru-RU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'Австралия'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 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'Австралия'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),</a:t>
            </a:r>
            <a:endParaRPr lang="ru-RU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'Бразилия'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 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'Южная Америка'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),</a:t>
            </a:r>
            <a:endParaRPr lang="ru-RU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'Мексика'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 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'Северная Америка'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),</a:t>
            </a:r>
            <a:endParaRPr lang="ru-RU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'Южная Корея'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 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'Азия'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),</a:t>
            </a:r>
            <a:endParaRPr lang="ru-RU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'ЮАР'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 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'Африка'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),</a:t>
            </a:r>
            <a:endParaRPr lang="ru-RU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'Аргентина'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 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'Южная Америка'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r>
              <a:rPr lang="ru-RU" sz="1400" dirty="0">
                <a:solidFill>
                  <a:srgbClr val="FF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;</a:t>
            </a:r>
            <a:endParaRPr lang="ru-RU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US" sz="1400" dirty="0"/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DB378958-B74F-480F-B37C-FB4ED48F77B9}"/>
              </a:ext>
            </a:extLst>
          </p:cNvPr>
          <p:cNvCxnSpPr>
            <a:cxnSpLocks/>
          </p:cNvCxnSpPr>
          <p:nvPr/>
        </p:nvCxnSpPr>
        <p:spPr bwMode="auto">
          <a:xfrm>
            <a:off x="5951984" y="1628800"/>
            <a:ext cx="0" cy="360040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8A3E5F9-DD3D-4271-9A2B-BC213EEDFE05}"/>
              </a:ext>
            </a:extLst>
          </p:cNvPr>
          <p:cNvSpPr txBox="1"/>
          <p:nvPr/>
        </p:nvSpPr>
        <p:spPr bwMode="auto">
          <a:xfrm>
            <a:off x="6528049" y="4924170"/>
            <a:ext cx="31683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Данные в таблице «Страны»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4AAA7C3B-60E9-4FC6-BCC2-8FCDA7D9EA4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300" r="7366"/>
          <a:stretch/>
        </p:blipFill>
        <p:spPr>
          <a:xfrm>
            <a:off x="6384032" y="1696573"/>
            <a:ext cx="3705808" cy="3212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43135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3359696" y="269109"/>
            <a:ext cx="6048672" cy="662883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ru-RU" sz="2800" b="1" dirty="0">
                <a:solidFill>
                  <a:schemeClr val="accent1">
                    <a:lumMod val="75000"/>
                  </a:schemeClr>
                </a:solidFill>
              </a:rPr>
              <a:t>Создание простых запросов</a:t>
            </a:r>
            <a:endParaRPr lang="ru-RU" sz="2800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 bwMode="auto">
          <a:xfrm>
            <a:off x="1811524" y="182962"/>
            <a:ext cx="1224136" cy="95729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4698834-6A9E-41DC-9404-1D73E052DF74}"/>
              </a:ext>
            </a:extLst>
          </p:cNvPr>
          <p:cNvSpPr txBox="1"/>
          <p:nvPr/>
        </p:nvSpPr>
        <p:spPr bwMode="auto">
          <a:xfrm>
            <a:off x="1984886" y="1556793"/>
            <a:ext cx="396044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ea typeface="Times New Roman" panose="02020603050405020304" pitchFamily="18" charset="0"/>
              </a:rPr>
              <a:t>Запрос1.</a:t>
            </a:r>
          </a:p>
          <a:p>
            <a:r>
              <a:rPr lang="en-US" sz="1400" b="1" dirty="0">
                <a:solidFill>
                  <a:srgbClr val="8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select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006464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name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 </a:t>
            </a:r>
            <a:r>
              <a:rPr lang="en-US" sz="1400" dirty="0" err="1">
                <a:solidFill>
                  <a:srgbClr val="006464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year_release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 </a:t>
            </a:r>
            <a:r>
              <a:rPr lang="en-US" sz="1400" dirty="0">
                <a:solidFill>
                  <a:srgbClr val="006464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rating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 </a:t>
            </a:r>
            <a:r>
              <a:rPr lang="en-US" sz="1400" dirty="0">
                <a:solidFill>
                  <a:srgbClr val="006464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budget</a:t>
            </a:r>
            <a:endParaRPr lang="ru-RU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400" b="1" dirty="0">
                <a:solidFill>
                  <a:srgbClr val="8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from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8E00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film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endParaRPr lang="ru-RU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400" b="1" dirty="0">
                <a:solidFill>
                  <a:srgbClr val="8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where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006464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rating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&gt;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8.0</a:t>
            </a:r>
            <a:endParaRPr lang="ru-RU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400" b="1" dirty="0">
                <a:solidFill>
                  <a:srgbClr val="8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order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8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by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006464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budget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8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desc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endParaRPr lang="ru-RU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tabLst>
                <a:tab pos="90170" algn="l"/>
              </a:tabLst>
            </a:pPr>
            <a:r>
              <a:rPr lang="en-US" sz="1400" b="1" dirty="0">
                <a:solidFill>
                  <a:srgbClr val="8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limit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5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;</a:t>
            </a:r>
            <a:endParaRPr lang="ru-RU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sz="1400" b="1" dirty="0">
              <a:solidFill>
                <a:srgbClr val="800000"/>
              </a:solidFill>
              <a:latin typeface="Consolas" panose="020B0609020204030204" pitchFamily="49" charset="0"/>
              <a:ea typeface="Times New Roman" panose="02020603050405020304" pitchFamily="18" charset="0"/>
            </a:endParaRPr>
          </a:p>
          <a:p>
            <a:r>
              <a:rPr lang="ru-RU" b="1" dirty="0">
                <a:latin typeface="+mj-lt"/>
                <a:ea typeface="Times New Roman" panose="02020603050405020304" pitchFamily="18" charset="0"/>
              </a:rPr>
              <a:t>Запрос2.</a:t>
            </a:r>
          </a:p>
          <a:p>
            <a:r>
              <a:rPr lang="en-US" sz="1400" b="1" dirty="0">
                <a:solidFill>
                  <a:srgbClr val="8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select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8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distinct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006464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continent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endParaRPr lang="ru-RU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400" b="1" dirty="0">
                <a:solidFill>
                  <a:srgbClr val="8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from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8E00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country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;</a:t>
            </a:r>
            <a:endParaRPr lang="ru-RU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b="1" dirty="0">
              <a:latin typeface="+mj-lt"/>
              <a:ea typeface="Times New Roman" panose="02020603050405020304" pitchFamily="18" charset="0"/>
            </a:endParaRPr>
          </a:p>
          <a:p>
            <a:endParaRPr lang="ru-RU" b="1" dirty="0">
              <a:latin typeface="+mj-lt"/>
              <a:ea typeface="Times New Roman" panose="02020603050405020304" pitchFamily="18" charset="0"/>
            </a:endParaRPr>
          </a:p>
          <a:p>
            <a:endParaRPr lang="en-US" sz="1400" dirty="0"/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DB378958-B74F-480F-B37C-FB4ED48F77B9}"/>
              </a:ext>
            </a:extLst>
          </p:cNvPr>
          <p:cNvCxnSpPr>
            <a:cxnSpLocks/>
          </p:cNvCxnSpPr>
          <p:nvPr/>
        </p:nvCxnSpPr>
        <p:spPr bwMode="auto">
          <a:xfrm>
            <a:off x="5951984" y="1628800"/>
            <a:ext cx="0" cy="360040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8A3E5F9-DD3D-4271-9A2B-BC213EEDFE05}"/>
              </a:ext>
            </a:extLst>
          </p:cNvPr>
          <p:cNvSpPr txBox="1"/>
          <p:nvPr/>
        </p:nvSpPr>
        <p:spPr bwMode="auto">
          <a:xfrm>
            <a:off x="6263766" y="2582837"/>
            <a:ext cx="35770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Топ 5 фильмов с высоким рейтингом и большим бюджетом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C7319115-0C17-4B81-9A00-AA45988D152A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6202429" y="1564498"/>
            <a:ext cx="3990975" cy="1089660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EF4E6CC-A046-4FFB-87D0-D3E115DD4931}"/>
              </a:ext>
            </a:extLst>
          </p:cNvPr>
          <p:cNvPicPr/>
          <p:nvPr/>
        </p:nvPicPr>
        <p:blipFill rotWithShape="1">
          <a:blip r:embed="rId4"/>
          <a:srcRect r="13998" b="6702"/>
          <a:stretch/>
        </p:blipFill>
        <p:spPr>
          <a:xfrm>
            <a:off x="7114525" y="3334582"/>
            <a:ext cx="1875489" cy="189461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51D81A8-B82C-40E2-A019-8454C43E58F9}"/>
              </a:ext>
            </a:extLst>
          </p:cNvPr>
          <p:cNvSpPr txBox="1"/>
          <p:nvPr/>
        </p:nvSpPr>
        <p:spPr bwMode="auto">
          <a:xfrm>
            <a:off x="6236184" y="5293502"/>
            <a:ext cx="35770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Уникальные материки</a:t>
            </a:r>
          </a:p>
        </p:txBody>
      </p:sp>
    </p:spTree>
    <p:extLst>
      <p:ext uri="{BB962C8B-B14F-4D97-AF65-F5344CB8AC3E}">
        <p14:creationId xmlns:p14="http://schemas.microsoft.com/office/powerpoint/2010/main" val="36593567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 bwMode="auto">
          <a:xfrm>
            <a:off x="1703513" y="182962"/>
            <a:ext cx="1224136" cy="95729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7" name="Заголовок 6"/>
          <p:cNvSpPr>
            <a:spLocks noGrp="1"/>
          </p:cNvSpPr>
          <p:nvPr>
            <p:ph type="title"/>
          </p:nvPr>
        </p:nvSpPr>
        <p:spPr bwMode="auto">
          <a:xfrm>
            <a:off x="3071664" y="439755"/>
            <a:ext cx="6995120" cy="63408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ru-RU" sz="2800" b="1" dirty="0">
                <a:solidFill>
                  <a:schemeClr val="accent2"/>
                </a:solidFill>
              </a:rPr>
              <a:t>ЗАКЛЮЧЕНИЕ 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EE0AC97-7B0A-4E6C-B52D-63428980BDE0}"/>
              </a:ext>
            </a:extLst>
          </p:cNvPr>
          <p:cNvSpPr txBox="1"/>
          <p:nvPr/>
        </p:nvSpPr>
        <p:spPr>
          <a:xfrm>
            <a:off x="2783633" y="2132856"/>
            <a:ext cx="705678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В ходе реализации проекта были последовательно выполнены все поставленные задачи: проведен анализ предметной области, разработаны инфологическая и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</a:rPr>
              <a:t>даталогическая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 схемы, выбрана СУБД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</a:rPr>
              <a:t>PostgreSQL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, реализована физическая модель базы данных, наполненная тестовыми данными. Особое внимание было уделено разработке комплексных запросов, представлений, функций, транзакций и триггеров, что обеспечило высокий уровень функциональности и надежности системы.</a:t>
            </a:r>
            <a:endParaRPr lang="ru-RU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праведливость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Другая 1">
      <a:majorFont>
        <a:latin typeface="Times New Roman"/>
        <a:ea typeface="Arial"/>
        <a:cs typeface="Arial"/>
      </a:majorFont>
      <a:minorFont>
        <a:latin typeface="Times New Roman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1625</TotalTime>
  <Words>920</Words>
  <Application>Microsoft Office PowerPoint</Application>
  <DocSecurity>0</DocSecurity>
  <PresentationFormat>Широкоэкранный</PresentationFormat>
  <Paragraphs>186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9" baseType="lpstr">
      <vt:lpstr>Arial</vt:lpstr>
      <vt:lpstr>Consolas</vt:lpstr>
      <vt:lpstr>quote-cjk-patch</vt:lpstr>
      <vt:lpstr>Times New Roman</vt:lpstr>
      <vt:lpstr>Wingdings</vt:lpstr>
      <vt:lpstr>Тема Office</vt:lpstr>
      <vt:lpstr>ПМ.02 Осуществление интеграции программных модулей </vt:lpstr>
      <vt:lpstr>Архитектура системы</vt:lpstr>
      <vt:lpstr>Управление версиями: Git и ветки</vt:lpstr>
      <vt:lpstr>Итоги работы: Канбан-доска</vt:lpstr>
      <vt:lpstr>Список сущностей</vt:lpstr>
      <vt:lpstr>Список атрибутов</vt:lpstr>
      <vt:lpstr>Создание инфологической модели</vt:lpstr>
      <vt:lpstr>Создание даталогической модели</vt:lpstr>
      <vt:lpstr>Выбор СУБД</vt:lpstr>
      <vt:lpstr>Создание БД</vt:lpstr>
      <vt:lpstr>Заполнение БД</vt:lpstr>
      <vt:lpstr>Создание простых запросов</vt:lpstr>
      <vt:lpstr>ЗАКЛЮЧЕНИЕ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User</dc:creator>
  <cp:keywords/>
  <dc:description/>
  <cp:lastModifiedBy>Mari</cp:lastModifiedBy>
  <cp:revision>179</cp:revision>
  <dcterms:created xsi:type="dcterms:W3CDTF">2019-05-16T05:43:42Z</dcterms:created>
  <dcterms:modified xsi:type="dcterms:W3CDTF">2026-06-02T13:00:02Z</dcterms:modified>
  <cp:category/>
  <dc:identifier/>
  <cp:contentStatus/>
  <dc:language/>
  <cp:version/>
</cp:coreProperties>
</file>