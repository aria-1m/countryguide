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90" r:id="rId4"/>
    <p:sldId id="331" r:id="rId5"/>
    <p:sldId id="340" r:id="rId6"/>
    <p:sldId id="341" r:id="rId7"/>
    <p:sldId id="292" r:id="rId8"/>
    <p:sldId id="306" r:id="rId9"/>
    <p:sldId id="291" r:id="rId10"/>
    <p:sldId id="338" r:id="rId11"/>
    <p:sldId id="293" r:id="rId12"/>
    <p:sldId id="308" r:id="rId13"/>
    <p:sldId id="310" r:id="rId14"/>
    <p:sldId id="343" r:id="rId15"/>
    <p:sldId id="345" r:id="rId16"/>
    <p:sldId id="344" r:id="rId17"/>
    <p:sldId id="296" r:id="rId18"/>
    <p:sldId id="309" r:id="rId19"/>
    <p:sldId id="294" r:id="rId20"/>
    <p:sldId id="350" r:id="rId21"/>
    <p:sldId id="349" r:id="rId22"/>
    <p:sldId id="348" r:id="rId23"/>
    <p:sldId id="339" r:id="rId24"/>
    <p:sldId id="303" r:id="rId25"/>
  </p:sldIdLst>
  <p:sldSz cx="12192000" cy="6858000"/>
  <p:notesSz cx="9144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D414673-6291-E95B-8A48-E9062BF18BBB}">
  <a:tblStyle styleId="{7D414673-6291-E95B-8A48-E9062BF18BBB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DA37D80-6434-44D0-A028-1B22A696006F}" styleName="Светлый стиль 3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75DCB02-9BB8-47FD-8907-85C794F793BA}" styleName="Стиль из темы 1 - акцент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1" autoAdjust="0"/>
    <p:restoredTop sz="94660"/>
  </p:normalViewPr>
  <p:slideViewPr>
    <p:cSldViewPr>
      <p:cViewPr varScale="1">
        <p:scale>
          <a:sx n="103" d="100"/>
          <a:sy n="103" d="100"/>
        </p:scale>
        <p:origin x="92" y="28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914400" y="2130426"/>
            <a:ext cx="10363200" cy="1470025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828800" y="3886201"/>
            <a:ext cx="85344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2162C4-37D7-4349-9C5B-6674379EBFE0}" type="datetimeFigureOut">
              <a:rPr lang="ru-RU"/>
              <a:t>02.06.2026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2162C4-37D7-4349-9C5B-6674379EBFE0}" type="datetimeFigureOut">
              <a:rPr lang="ru-RU"/>
              <a:t>02.06.2026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2162C4-37D7-4349-9C5B-6674379EBFE0}" type="datetimeFigureOut">
              <a:rPr lang="ru-RU"/>
              <a:t>02.06.2026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2162C4-37D7-4349-9C5B-6674379EBFE0}" type="datetimeFigureOut">
              <a:rPr lang="ru-RU"/>
              <a:t>02.06.2026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2162C4-37D7-4349-9C5B-6674379EBFE0}" type="datetimeFigureOut">
              <a:rPr lang="ru-RU"/>
              <a:t>02.06.2026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2162C4-37D7-4349-9C5B-6674379EBFE0}" type="datetimeFigureOut">
              <a:rPr lang="ru-RU"/>
              <a:t>02.06.2026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2162C4-37D7-4349-9C5B-6674379EBFE0}" type="datetimeFigureOut">
              <a:rPr lang="ru-RU"/>
              <a:t>02.06.2026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2162C4-37D7-4349-9C5B-6674379EBFE0}" type="datetimeFigureOut">
              <a:rPr lang="ru-RU"/>
              <a:t>02.06.2026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2162C4-37D7-4349-9C5B-6674379EBFE0}" type="datetimeFigureOut">
              <a:rPr lang="ru-RU"/>
              <a:t>02.06.2026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2162C4-37D7-4349-9C5B-6674379EBFE0}" type="datetimeFigureOut">
              <a:rPr lang="ru-RU"/>
              <a:t>02.06.2026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839200" y="274639"/>
            <a:ext cx="2743200" cy="5851525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609600" y="274639"/>
            <a:ext cx="8026400" cy="5851525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2162C4-37D7-4349-9C5B-6674379EBFE0}" type="datetimeFigureOut">
              <a:rPr lang="ru-RU"/>
              <a:t>02.06.2026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22162C4-37D7-4349-9C5B-6674379EBFE0}" type="datetimeFigureOut">
              <a:rPr lang="ru-RU"/>
              <a:t>02.06.2026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3C3BFEE-A7CD-4CD0-B312-B1D348E3E377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mailto:maria@gmail.com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ctrTitle"/>
          </p:nvPr>
        </p:nvSpPr>
        <p:spPr bwMode="auto">
          <a:xfrm>
            <a:off x="2508734" y="2612910"/>
            <a:ext cx="7772400" cy="469244"/>
          </a:xfrm>
        </p:spPr>
        <p:txBody>
          <a:bodyPr>
            <a:normAutofit fontScale="90000"/>
          </a:bodyPr>
          <a:lstStyle/>
          <a:p>
            <a:pPr>
              <a:lnSpc>
                <a:spcPct val="114999"/>
              </a:lnSpc>
              <a:spcAft>
                <a:spcPts val="1000"/>
              </a:spcAft>
              <a:defRPr/>
            </a:pPr>
            <a:r>
              <a:rPr lang="ru-RU" sz="2400" b="1" dirty="0">
                <a:latin typeface="Times New Roman"/>
                <a:ea typeface="Times New Roman"/>
                <a:cs typeface="Times New Roman"/>
              </a:rPr>
              <a:t>ПМ.02 Осуществление интеграции программных модулей</a:t>
            </a:r>
            <a:br>
              <a:rPr lang="ru-RU" sz="2400" b="1" dirty="0">
                <a:latin typeface="Times New Roman"/>
                <a:ea typeface="Times New Roman"/>
                <a:cs typeface="Times New Roman"/>
              </a:rPr>
            </a:br>
            <a:endParaRPr lang="ru-RU" sz="2400" b="1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 bwMode="auto">
          <a:xfrm>
            <a:off x="1814385" y="3356992"/>
            <a:ext cx="8466749" cy="79239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800" b="1" dirty="0">
                <a:solidFill>
                  <a:schemeClr val="accent1">
                    <a:lumMod val="75000"/>
                  </a:schemeClr>
                </a:solidFill>
              </a:rPr>
              <a:t>специальность 09.02.07  Информационные системы и программирование</a:t>
            </a:r>
            <a:endParaRPr dirty="0"/>
          </a:p>
        </p:txBody>
      </p:sp>
      <p:grpSp>
        <p:nvGrpSpPr>
          <p:cNvPr id="2" name="Группа 1"/>
          <p:cNvGrpSpPr/>
          <p:nvPr/>
        </p:nvGrpSpPr>
        <p:grpSpPr bwMode="auto">
          <a:xfrm>
            <a:off x="1847529" y="108069"/>
            <a:ext cx="8466749" cy="1462956"/>
            <a:chOff x="323528" y="108069"/>
            <a:chExt cx="8466749" cy="1462956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/>
          </p:blipFill>
          <p:spPr bwMode="auto">
            <a:xfrm>
              <a:off x="323528" y="108069"/>
              <a:ext cx="1872208" cy="1462956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3"/>
            <a:stretch/>
          </p:blipFill>
          <p:spPr bwMode="auto">
            <a:xfrm>
              <a:off x="2555776" y="476672"/>
              <a:ext cx="6234501" cy="725750"/>
            </a:xfrm>
            <a:prstGeom prst="rect">
              <a:avLst/>
            </a:prstGeom>
            <a:noFill/>
            <a:ln>
              <a:noFill/>
            </a:ln>
            <a:effectLst/>
          </p:spPr>
        </p:pic>
      </p:grpSp>
      <p:sp>
        <p:nvSpPr>
          <p:cNvPr id="8" name="Прямоугольник 7"/>
          <p:cNvSpPr/>
          <p:nvPr/>
        </p:nvSpPr>
        <p:spPr bwMode="auto">
          <a:xfrm>
            <a:off x="3143672" y="1879234"/>
            <a:ext cx="700704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ru-RU" sz="3200" b="1" dirty="0">
                <a:solidFill>
                  <a:schemeClr val="accent2"/>
                </a:solidFill>
              </a:rPr>
              <a:t>ОТЧЕТ ПО УЧЕБНОЙ ПРАКТИКЕ</a:t>
            </a:r>
            <a:endParaRPr sz="3200" dirty="0"/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7072958" y="4040598"/>
            <a:ext cx="3415531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dirty="0"/>
              <a:t>Выполнила: Александрова А.А. </a:t>
            </a:r>
            <a:r>
              <a:rPr lang="ru-RU" dirty="0" err="1"/>
              <a:t>Перевезенцева</a:t>
            </a:r>
            <a:r>
              <a:rPr lang="ru-RU" dirty="0"/>
              <a:t> М.С.</a:t>
            </a:r>
            <a:endParaRPr dirty="0"/>
          </a:p>
          <a:p>
            <a:pPr>
              <a:spcBef>
                <a:spcPts val="1200"/>
              </a:spcBef>
              <a:spcAft>
                <a:spcPts val="1200"/>
              </a:spcAft>
              <a:defRPr/>
            </a:pPr>
            <a:r>
              <a:rPr lang="ru-RU" dirty="0"/>
              <a:t>Группа: 31П</a:t>
            </a:r>
            <a:endParaRPr dirty="0"/>
          </a:p>
          <a:p>
            <a:pPr>
              <a:defRPr/>
            </a:pPr>
            <a:r>
              <a:rPr lang="ru-RU" dirty="0"/>
              <a:t>Руководитель: </a:t>
            </a:r>
            <a:r>
              <a:rPr lang="ru-RU" dirty="0" err="1"/>
              <a:t>Мамшева</a:t>
            </a:r>
            <a:r>
              <a:rPr lang="ru-RU" dirty="0"/>
              <a:t> Ю.С.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5096976" y="6058163"/>
            <a:ext cx="19980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ru-RU" dirty="0"/>
              <a:t>Нижний Новгород</a:t>
            </a:r>
            <a:endParaRPr dirty="0"/>
          </a:p>
          <a:p>
            <a:pPr algn="ctr">
              <a:defRPr/>
            </a:pPr>
            <a:r>
              <a:rPr lang="ru-RU" dirty="0"/>
              <a:t>2026г.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551384" y="279076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 bwMode="auto">
          <a:xfrm>
            <a:off x="551384" y="313296"/>
            <a:ext cx="11640616" cy="634082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defRPr/>
            </a:pPr>
            <a:r>
              <a:rPr lang="ru-RU" sz="3200" b="1" dirty="0">
                <a:solidFill>
                  <a:schemeClr val="accent2"/>
                </a:solidFill>
              </a:rPr>
              <a:t>Цель и задачи</a:t>
            </a:r>
            <a:endParaRPr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D0F273-80C0-4E9A-900D-D5CC33AACC41}"/>
              </a:ext>
            </a:extLst>
          </p:cNvPr>
          <p:cNvSpPr txBox="1"/>
          <p:nvPr/>
        </p:nvSpPr>
        <p:spPr>
          <a:xfrm>
            <a:off x="1415480" y="1870165"/>
            <a:ext cx="936104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49263" algn="just"/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Целью практики являлось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закрепление теоретических знаний и приобретение практических навыков в области проектирования, разработки информационных систем, интеграции с хранилищем данных и использования системы контроля версий при командной работе.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263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процессе практики были последовательно решены следующие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изучены принципы формирования и организации команды,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распределены роли в команде,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проектирована информационная система,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командная разработка проекта,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тестирование и составление документации.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775520" y="90109"/>
            <a:ext cx="10297143" cy="1143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3200" b="1" dirty="0">
                <a:solidFill>
                  <a:schemeClr val="accent2"/>
                </a:solidFill>
              </a:rPr>
              <a:t>Концепция информационной системы</a:t>
            </a:r>
            <a:endParaRPr lang="ru-RU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335360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2C263FB-1AB2-49A5-99A8-69D9AE54C7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4693" y="1654339"/>
            <a:ext cx="2292860" cy="21265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E2BB363-23D9-47F0-BBF2-EE0D0FE138E6}"/>
              </a:ext>
            </a:extLst>
          </p:cNvPr>
          <p:cNvSpPr txBox="1"/>
          <p:nvPr/>
        </p:nvSpPr>
        <p:spPr>
          <a:xfrm>
            <a:off x="8884979" y="3826282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Логотип «Гид по странам»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1028C8-3450-41EC-A175-7CA0CA1B558C}"/>
              </a:ext>
            </a:extLst>
          </p:cNvPr>
          <p:cNvSpPr txBox="1"/>
          <p:nvPr/>
        </p:nvSpPr>
        <p:spPr>
          <a:xfrm>
            <a:off x="1113813" y="1484784"/>
            <a:ext cx="792088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  <a:p>
            <a:pPr indent="457200"/>
            <a:r>
              <a:rPr lang="ru-RU" dirty="0"/>
              <a:t>«</a:t>
            </a:r>
            <a:r>
              <a:rPr lang="ru-RU" b="1" dirty="0"/>
              <a:t>Гид по странам</a:t>
            </a:r>
            <a:r>
              <a:rPr lang="ru-RU" dirty="0"/>
              <a:t>» —веб-приложение-гид для путешественников, объединяющее функции финансового планирования, управления расходами и справочной информацией о странах. Приложение помогает туристам подготовиться к поездке, контролировать бюджет в реальном времени и получать актуальную информацию о стране пребывания: полезные фразы на местном языке, рекомендации локальных приложений (карты, такси, переводчики, доставка еды), а также статьи с важными правилами и рекомендациями.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6139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3647728" y="323364"/>
            <a:ext cx="6120680" cy="662883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2800" b="1" dirty="0">
                <a:solidFill>
                  <a:schemeClr val="accent1">
                    <a:lumMod val="75000"/>
                  </a:schemeClr>
                </a:solidFill>
              </a:rPr>
              <a:t>Архитектура системы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1811524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349092-C420-4F14-A258-16C43E1F5C16}"/>
              </a:ext>
            </a:extLst>
          </p:cNvPr>
          <p:cNvSpPr txBox="1"/>
          <p:nvPr/>
        </p:nvSpPr>
        <p:spPr bwMode="auto">
          <a:xfrm>
            <a:off x="551384" y="1630810"/>
            <a:ext cx="633670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2000" b="1" i="0" dirty="0">
                <a:solidFill>
                  <a:srgbClr val="0F1115"/>
                </a:solidFill>
                <a:effectLst/>
              </a:rPr>
              <a:t>Архитектура ГПС</a:t>
            </a:r>
            <a:br>
              <a:rPr lang="ru-RU" sz="2000" b="0" i="0" dirty="0">
                <a:solidFill>
                  <a:srgbClr val="0F1115"/>
                </a:solidFill>
                <a:effectLst/>
              </a:rPr>
            </a:br>
            <a:r>
              <a:rPr lang="ru-RU" sz="2000" b="0" i="0" dirty="0">
                <a:solidFill>
                  <a:srgbClr val="0F1115"/>
                </a:solidFill>
                <a:effectLst/>
              </a:rPr>
              <a:t>Клиент - </a:t>
            </a:r>
            <a:r>
              <a:rPr lang="en-US" sz="2000" b="0" i="0" dirty="0">
                <a:solidFill>
                  <a:srgbClr val="0F1115"/>
                </a:solidFill>
                <a:effectLst/>
              </a:rPr>
              <a:t>Django (Backend) </a:t>
            </a:r>
            <a:r>
              <a:rPr lang="ru-RU" sz="2000" b="0" i="0" dirty="0">
                <a:solidFill>
                  <a:srgbClr val="0F1115"/>
                </a:solidFill>
                <a:effectLst/>
              </a:rPr>
              <a:t>-</a:t>
            </a:r>
            <a:r>
              <a:rPr lang="en-US" sz="2000" b="0" i="0" dirty="0">
                <a:solidFill>
                  <a:srgbClr val="0F1115"/>
                </a:solidFill>
                <a:effectLst/>
              </a:rPr>
              <a:t> SQLite (</a:t>
            </a:r>
            <a:r>
              <a:rPr lang="ru-RU" sz="2000" b="0" i="0" dirty="0">
                <a:solidFill>
                  <a:srgbClr val="0F1115"/>
                </a:solidFill>
                <a:effectLst/>
              </a:rPr>
              <a:t>БД) - Внешние </a:t>
            </a:r>
            <a:r>
              <a:rPr lang="en-US" sz="2000" b="0" i="0" dirty="0">
                <a:solidFill>
                  <a:srgbClr val="0F1115"/>
                </a:solidFill>
                <a:effectLst/>
              </a:rPr>
              <a:t>API</a:t>
            </a:r>
          </a:p>
          <a:p>
            <a:pPr algn="l"/>
            <a:r>
              <a:rPr lang="ru-RU" sz="2000" b="1" i="0" dirty="0">
                <a:solidFill>
                  <a:srgbClr val="0F1115"/>
                </a:solidFill>
                <a:effectLst/>
              </a:rPr>
              <a:t>Модули системы:</a:t>
            </a:r>
            <a:endParaRPr lang="ru-RU" sz="2000" b="0" i="0" dirty="0">
              <a:solidFill>
                <a:srgbClr val="0F1115"/>
              </a:solidFill>
              <a:effectLst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</a:rPr>
              <a:t>Пользовательский модуль (регистрация, авторизация, роли)</a:t>
            </a:r>
            <a:endParaRPr lang="ru-RU" sz="2000" dirty="0">
              <a:solidFill>
                <a:srgbClr val="0F1115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</a:rPr>
              <a:t>Модуль стран и поездок (</a:t>
            </a:r>
            <a:r>
              <a:rPr lang="en-US" sz="2000" b="0" i="0" dirty="0">
                <a:solidFill>
                  <a:srgbClr val="0F1115"/>
                </a:solidFill>
                <a:effectLst/>
              </a:rPr>
              <a:t>CRUD, </a:t>
            </a:r>
            <a:r>
              <a:rPr lang="ru-RU" sz="2000" b="0" i="0" dirty="0">
                <a:solidFill>
                  <a:srgbClr val="0F1115"/>
                </a:solidFill>
                <a:effectLst/>
              </a:rPr>
              <a:t>бюджет)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</a:rPr>
              <a:t>Модуль разговорника (категории, фразы)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</a:rPr>
              <a:t>Модуль статьи и приложения (</a:t>
            </a:r>
            <a:r>
              <a:rPr lang="en-US" sz="2000" b="0" i="0" dirty="0">
                <a:solidFill>
                  <a:srgbClr val="0F1115"/>
                </a:solidFill>
                <a:effectLst/>
              </a:rPr>
              <a:t>CRUD</a:t>
            </a:r>
            <a:r>
              <a:rPr lang="ru-RU" sz="2000" b="0" i="0" dirty="0">
                <a:solidFill>
                  <a:srgbClr val="0F1115"/>
                </a:solidFill>
                <a:effectLst/>
              </a:rPr>
              <a:t>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</a:rPr>
              <a:t>Модуль </a:t>
            </a:r>
            <a:r>
              <a:rPr lang="en-US" sz="2000" b="0" i="0" dirty="0">
                <a:solidFill>
                  <a:srgbClr val="0F1115"/>
                </a:solidFill>
                <a:effectLst/>
              </a:rPr>
              <a:t>API (</a:t>
            </a:r>
            <a:r>
              <a:rPr lang="ru-RU" sz="2000" b="0" i="0" dirty="0">
                <a:solidFill>
                  <a:srgbClr val="0F1115"/>
                </a:solidFill>
                <a:effectLst/>
              </a:rPr>
              <a:t>курсы валют, новости)</a:t>
            </a:r>
          </a:p>
          <a:p>
            <a:pPr algn="l"/>
            <a:r>
              <a:rPr lang="en-US" sz="2000" b="1" i="0" dirty="0">
                <a:solidFill>
                  <a:srgbClr val="0F1115"/>
                </a:solidFill>
                <a:effectLst/>
              </a:rPr>
              <a:t>ER-</a:t>
            </a:r>
            <a:r>
              <a:rPr lang="ru-RU" sz="2000" b="1" i="0" dirty="0">
                <a:solidFill>
                  <a:srgbClr val="0F1115"/>
                </a:solidFill>
                <a:effectLst/>
              </a:rPr>
              <a:t>диаграмма:</a:t>
            </a:r>
            <a:br>
              <a:rPr lang="ru-RU" sz="2000" b="0" i="0" dirty="0">
                <a:solidFill>
                  <a:srgbClr val="0F1115"/>
                </a:solidFill>
                <a:effectLst/>
              </a:rPr>
            </a:br>
            <a:r>
              <a:rPr lang="ru-RU" sz="2000" b="0" i="0" dirty="0">
                <a:solidFill>
                  <a:srgbClr val="0F1115"/>
                </a:solidFill>
                <a:effectLst/>
              </a:rPr>
              <a:t>Сущности: </a:t>
            </a:r>
            <a:r>
              <a:rPr lang="en-US" sz="2000" b="0" i="0" dirty="0">
                <a:solidFill>
                  <a:srgbClr val="0F1115"/>
                </a:solidFill>
                <a:effectLst/>
              </a:rPr>
              <a:t>User, Country, Trip, Budget, Phrase, </a:t>
            </a:r>
            <a:r>
              <a:rPr lang="en-US" sz="2000" b="0" i="0" dirty="0" err="1">
                <a:solidFill>
                  <a:srgbClr val="0F1115"/>
                </a:solidFill>
                <a:effectLst/>
              </a:rPr>
              <a:t>LocalApp</a:t>
            </a:r>
            <a:endParaRPr lang="en-US" sz="2000" b="0" i="0" dirty="0">
              <a:solidFill>
                <a:srgbClr val="0F1115"/>
              </a:solidFill>
              <a:effectLst/>
            </a:endParaRPr>
          </a:p>
          <a:p>
            <a:endParaRPr lang="ru-RU" sz="20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131DBC9-3ABB-4A2A-B1AA-76E010BE9C8E}"/>
              </a:ext>
            </a:extLst>
          </p:cNvPr>
          <p:cNvPicPr/>
          <p:nvPr/>
        </p:nvPicPr>
        <p:blipFill rotWithShape="1">
          <a:blip r:embed="rId3"/>
          <a:srcRect b="2513"/>
          <a:stretch/>
        </p:blipFill>
        <p:spPr>
          <a:xfrm>
            <a:off x="6960095" y="1010530"/>
            <a:ext cx="4482063" cy="51854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616D648-636E-43A7-B77D-2130755A7878}"/>
              </a:ext>
            </a:extLst>
          </p:cNvPr>
          <p:cNvSpPr txBox="1"/>
          <p:nvPr/>
        </p:nvSpPr>
        <p:spPr bwMode="auto">
          <a:xfrm>
            <a:off x="7248128" y="6165304"/>
            <a:ext cx="4482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ER </a:t>
            </a:r>
            <a:r>
              <a:rPr lang="ru-RU" dirty="0"/>
              <a:t>диаграмма</a:t>
            </a:r>
          </a:p>
        </p:txBody>
      </p:sp>
    </p:spTree>
    <p:extLst>
      <p:ext uri="{BB962C8B-B14F-4D97-AF65-F5344CB8AC3E}">
        <p14:creationId xmlns:p14="http://schemas.microsoft.com/office/powerpoint/2010/main" val="2914544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1811524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FAE712A-4C1E-4DCD-A188-6355E8C60155}"/>
              </a:ext>
            </a:extLst>
          </p:cNvPr>
          <p:cNvSpPr txBox="1"/>
          <p:nvPr/>
        </p:nvSpPr>
        <p:spPr bwMode="auto">
          <a:xfrm>
            <a:off x="6477128" y="5340842"/>
            <a:ext cx="5068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Диаграмма классов 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B36FDC6-9851-49BB-A0A4-582A907E2C5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523492" y="1377399"/>
            <a:ext cx="4104456" cy="39634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AA8F731-B7B4-42DD-9D8A-EC2B093E1B4B}"/>
              </a:ext>
            </a:extLst>
          </p:cNvPr>
          <p:cNvSpPr txBox="1"/>
          <p:nvPr/>
        </p:nvSpPr>
        <p:spPr bwMode="auto">
          <a:xfrm>
            <a:off x="1451484" y="5340842"/>
            <a:ext cx="417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Диаграмма использования </a:t>
            </a:r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D230F38-223D-47F8-ACD9-F69422450F2A}"/>
              </a:ext>
            </a:extLst>
          </p:cNvPr>
          <p:cNvPicPr/>
          <p:nvPr/>
        </p:nvPicPr>
        <p:blipFill rotWithShape="1">
          <a:blip r:embed="rId4"/>
          <a:srcRect l="8337" r="2512"/>
          <a:stretch/>
        </p:blipFill>
        <p:spPr bwMode="auto">
          <a:xfrm>
            <a:off x="6477129" y="1377399"/>
            <a:ext cx="5068765" cy="396344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23128CE0-11E2-449F-ABB4-58336E24C0BE}"/>
              </a:ext>
            </a:extLst>
          </p:cNvPr>
          <p:cNvSpPr txBox="1">
            <a:spLocks/>
          </p:cNvSpPr>
          <p:nvPr/>
        </p:nvSpPr>
        <p:spPr bwMode="auto">
          <a:xfrm>
            <a:off x="2855640" y="115829"/>
            <a:ext cx="806489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 sz="3200" b="1" dirty="0">
                <a:solidFill>
                  <a:schemeClr val="accent2"/>
                </a:solidFill>
              </a:rPr>
              <a:t>Плановая документация и разработка UML-диаграмм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5761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1811524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FAE712A-4C1E-4DCD-A188-6355E8C60155}"/>
              </a:ext>
            </a:extLst>
          </p:cNvPr>
          <p:cNvSpPr txBox="1"/>
          <p:nvPr/>
        </p:nvSpPr>
        <p:spPr bwMode="auto">
          <a:xfrm>
            <a:off x="4557840" y="4653136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Диаграмма коммуникаций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88FFF08-42FE-4C6B-9DF7-131361DEFE3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95400" y="1412776"/>
            <a:ext cx="3664743" cy="41764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762DCEE-D72C-425D-9A4B-DCB3BF5ADC5A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7968208" y="1306844"/>
            <a:ext cx="3456146" cy="4482723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70B1A19-C357-4001-BD87-30868377C7F6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4654550" y="2319020"/>
            <a:ext cx="2882900" cy="221996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5C2C885-4A21-49C2-A19E-3A59B8D66C71}"/>
              </a:ext>
            </a:extLst>
          </p:cNvPr>
          <p:cNvSpPr txBox="1"/>
          <p:nvPr/>
        </p:nvSpPr>
        <p:spPr bwMode="auto">
          <a:xfrm>
            <a:off x="7798200" y="5877272"/>
            <a:ext cx="3842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Диаграмма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последовательности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92255B-6AD6-44FD-8B41-8318FCFE5BED}"/>
              </a:ext>
            </a:extLst>
          </p:cNvPr>
          <p:cNvSpPr txBox="1"/>
          <p:nvPr/>
        </p:nvSpPr>
        <p:spPr bwMode="auto">
          <a:xfrm>
            <a:off x="690843" y="5514058"/>
            <a:ext cx="3842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Диаграмма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деятельности </a:t>
            </a:r>
            <a:endParaRPr lang="ru-RU" dirty="0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AD4EDD7B-E10A-4D1A-A246-C91EFB37EB4F}"/>
              </a:ext>
            </a:extLst>
          </p:cNvPr>
          <p:cNvSpPr txBox="1">
            <a:spLocks/>
          </p:cNvSpPr>
          <p:nvPr/>
        </p:nvSpPr>
        <p:spPr bwMode="auto">
          <a:xfrm>
            <a:off x="3035660" y="119992"/>
            <a:ext cx="806489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 sz="3200" b="1" dirty="0">
                <a:solidFill>
                  <a:schemeClr val="accent2"/>
                </a:solidFill>
              </a:rPr>
              <a:t>Плановая документация и разработка UML-диаграмм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12112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2351584" y="182962"/>
            <a:ext cx="8064895" cy="1143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3200" b="1" dirty="0">
                <a:solidFill>
                  <a:schemeClr val="accent2"/>
                </a:solidFill>
              </a:rPr>
              <a:t>Плановая документация и разработка UML-диаграмм</a:t>
            </a:r>
            <a:endParaRPr lang="ru-RU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335360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1CC127F-4A90-4C20-98D3-A8DAE32F6D35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816" y="1736088"/>
            <a:ext cx="3968328" cy="34211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189C6B-E07E-4702-BF7E-F909C066175C}"/>
              </a:ext>
            </a:extLst>
          </p:cNvPr>
          <p:cNvSpPr txBox="1"/>
          <p:nvPr/>
        </p:nvSpPr>
        <p:spPr>
          <a:xfrm>
            <a:off x="2438533" y="5235250"/>
            <a:ext cx="2553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Диаграмма развёртывания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7026C77-10FE-439B-8DD3-2897223F12BB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2728" y="1736088"/>
            <a:ext cx="4104456" cy="348965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4A97DEB-C082-4B2D-917C-111F1F9A359B}"/>
              </a:ext>
            </a:extLst>
          </p:cNvPr>
          <p:cNvSpPr txBox="1"/>
          <p:nvPr/>
        </p:nvSpPr>
        <p:spPr bwMode="auto">
          <a:xfrm>
            <a:off x="7536160" y="5222515"/>
            <a:ext cx="23705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Диаграмма компонентов</a:t>
            </a:r>
          </a:p>
        </p:txBody>
      </p:sp>
    </p:spTree>
    <p:extLst>
      <p:ext uri="{BB962C8B-B14F-4D97-AF65-F5344CB8AC3E}">
        <p14:creationId xmlns:p14="http://schemas.microsoft.com/office/powerpoint/2010/main" val="1308016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775520" y="90109"/>
            <a:ext cx="10297143" cy="1143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3200" b="1" dirty="0">
                <a:solidFill>
                  <a:schemeClr val="accent2"/>
                </a:solidFill>
              </a:rPr>
              <a:t>Плановая документация и разработка UML-диаграмм</a:t>
            </a:r>
            <a:endParaRPr lang="ru-RU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335360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189C6B-E07E-4702-BF7E-F909C066175C}"/>
              </a:ext>
            </a:extLst>
          </p:cNvPr>
          <p:cNvSpPr txBox="1"/>
          <p:nvPr/>
        </p:nvSpPr>
        <p:spPr>
          <a:xfrm>
            <a:off x="100079" y="5328597"/>
            <a:ext cx="263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Диаграмма деятельности мониторинга безопасности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A97DEB-C082-4B2D-917C-111F1F9A359B}"/>
              </a:ext>
            </a:extLst>
          </p:cNvPr>
          <p:cNvSpPr txBox="1"/>
          <p:nvPr/>
        </p:nvSpPr>
        <p:spPr bwMode="auto">
          <a:xfrm>
            <a:off x="2999656" y="5355352"/>
            <a:ext cx="28030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Диаграмма последовательности при оценке рисков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513B0D9-8CD7-4761-AE24-1523BE1F25D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58" y="1306468"/>
            <a:ext cx="2338443" cy="383419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7ED02F0-D233-4738-B227-70C3C647224F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355" y="1306468"/>
            <a:ext cx="2685573" cy="383419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4EB39F1-4846-4591-823D-D780D7274D2A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3992" y="1461638"/>
            <a:ext cx="2414634" cy="352385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DCCEBAF-E492-44C9-B034-BFDAC82ABBAF}"/>
              </a:ext>
            </a:extLst>
          </p:cNvPr>
          <p:cNvSpPr txBox="1"/>
          <p:nvPr/>
        </p:nvSpPr>
        <p:spPr bwMode="auto">
          <a:xfrm>
            <a:off x="6023992" y="5224002"/>
            <a:ext cx="28030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Диаграмма коммуникации объектов мониторинга безопасности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AE43E9B-D890-4DC7-A6B0-194E0A636252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336" y="1686100"/>
            <a:ext cx="2559713" cy="328555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37AC2AE-A024-481F-8C2D-ED2FF93E61D9}"/>
              </a:ext>
            </a:extLst>
          </p:cNvPr>
          <p:cNvSpPr txBox="1"/>
          <p:nvPr/>
        </p:nvSpPr>
        <p:spPr bwMode="auto">
          <a:xfrm>
            <a:off x="8998652" y="5314995"/>
            <a:ext cx="28030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Диаграмма 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состояния уведомления о безопасности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968290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775520" y="90109"/>
            <a:ext cx="10297143" cy="1143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3200" b="1" dirty="0">
                <a:solidFill>
                  <a:schemeClr val="accent2"/>
                </a:solidFill>
              </a:rPr>
              <a:t>Создание </a:t>
            </a:r>
            <a:r>
              <a:rPr lang="ru-RU" sz="3200" b="1" dirty="0" err="1">
                <a:solidFill>
                  <a:schemeClr val="accent2"/>
                </a:solidFill>
              </a:rPr>
              <a:t>канбан</a:t>
            </a:r>
            <a:r>
              <a:rPr lang="ru-RU" sz="3200" b="1" dirty="0">
                <a:solidFill>
                  <a:schemeClr val="accent2"/>
                </a:solidFill>
              </a:rPr>
              <a:t>-доски</a:t>
            </a:r>
            <a:endParaRPr lang="ru-RU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335360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784B24-94FC-45F6-82A0-67B352CD03F9}"/>
              </a:ext>
            </a:extLst>
          </p:cNvPr>
          <p:cNvSpPr txBox="1"/>
          <p:nvPr/>
        </p:nvSpPr>
        <p:spPr>
          <a:xfrm>
            <a:off x="311486" y="1484784"/>
            <a:ext cx="564049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	С помощью онлайн-сервиса </a:t>
            </a:r>
            <a:r>
              <a:rPr lang="ru-RU" b="1" dirty="0" err="1"/>
              <a:t>Shtab</a:t>
            </a:r>
            <a:r>
              <a:rPr lang="ru-RU" dirty="0"/>
              <a:t> была составлена </a:t>
            </a:r>
            <a:r>
              <a:rPr lang="ru-RU" dirty="0" err="1"/>
              <a:t>Канбан</a:t>
            </a:r>
            <a:r>
              <a:rPr lang="ru-RU" dirty="0"/>
              <a:t>-доска с первостепенными задачами.</a:t>
            </a:r>
          </a:p>
          <a:p>
            <a:r>
              <a:rPr lang="ru-RU" dirty="0"/>
              <a:t>	</a:t>
            </a:r>
            <a:r>
              <a:rPr lang="ru-RU" b="1" dirty="0"/>
              <a:t>Колонки</a:t>
            </a:r>
            <a:r>
              <a:rPr lang="ru-RU" dirty="0"/>
              <a:t>, каждая из которых отвечает за определённое состояние задачи на данном этапе: </a:t>
            </a:r>
          </a:p>
          <a:p>
            <a:pPr marL="285750">
              <a:buFont typeface="Arial" panose="020B0604020202020204" pitchFamily="34" charset="0"/>
              <a:buChar char="•"/>
            </a:pPr>
            <a:r>
              <a:rPr lang="ru-RU" dirty="0"/>
              <a:t>Новые, </a:t>
            </a:r>
          </a:p>
          <a:p>
            <a:pPr marL="285750">
              <a:buFont typeface="Arial" panose="020B0604020202020204" pitchFamily="34" charset="0"/>
              <a:buChar char="•"/>
            </a:pPr>
            <a:r>
              <a:rPr lang="ru-RU" dirty="0"/>
              <a:t>В процессе, </a:t>
            </a:r>
          </a:p>
          <a:p>
            <a:pPr marL="285750">
              <a:buFont typeface="Arial" panose="020B0604020202020204" pitchFamily="34" charset="0"/>
              <a:buChar char="•"/>
            </a:pPr>
            <a:r>
              <a:rPr lang="ru-RU" dirty="0"/>
              <a:t>Готово, </a:t>
            </a:r>
          </a:p>
          <a:p>
            <a:pPr marL="285750">
              <a:buFont typeface="Arial" panose="020B0604020202020204" pitchFamily="34" charset="0"/>
              <a:buChar char="•"/>
            </a:pPr>
            <a:r>
              <a:rPr lang="ru-RU" dirty="0"/>
              <a:t>Отложено.</a:t>
            </a:r>
          </a:p>
          <a:p>
            <a:r>
              <a:rPr lang="ru-RU" dirty="0"/>
              <a:t> 	Каждой задаче будет присвоен приоритет и назначен исполнитель или несколько исполнителей. В процессе работы над проектом задачи должны переходить из одной колонки в другую и помечаться как выполненные.</a:t>
            </a:r>
          </a:p>
          <a:p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9B6001A-2BBB-4A9B-AC6B-86E2995833A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3992" y="1988840"/>
            <a:ext cx="5940425" cy="27368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7E3DA78-24D6-4942-9332-9399AE1CA730}"/>
              </a:ext>
            </a:extLst>
          </p:cNvPr>
          <p:cNvSpPr txBox="1"/>
          <p:nvPr/>
        </p:nvSpPr>
        <p:spPr bwMode="auto">
          <a:xfrm>
            <a:off x="7464152" y="4725690"/>
            <a:ext cx="33843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Начало формирования </a:t>
            </a:r>
            <a:r>
              <a:rPr lang="ru-RU" sz="1600" dirty="0" err="1"/>
              <a:t>канбан</a:t>
            </a:r>
            <a:r>
              <a:rPr lang="ru-RU" sz="1600" dirty="0"/>
              <a:t>-доски</a:t>
            </a:r>
          </a:p>
        </p:txBody>
      </p:sp>
    </p:spTree>
    <p:extLst>
      <p:ext uri="{BB962C8B-B14F-4D97-AF65-F5344CB8AC3E}">
        <p14:creationId xmlns:p14="http://schemas.microsoft.com/office/powerpoint/2010/main" val="2933925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3575720" y="477376"/>
            <a:ext cx="6120680" cy="662883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2800" b="1" dirty="0">
                <a:solidFill>
                  <a:schemeClr val="accent1">
                    <a:lumMod val="75000"/>
                  </a:schemeClr>
                </a:solidFill>
              </a:rPr>
              <a:t>Управление версиями: </a:t>
            </a:r>
            <a:r>
              <a:rPr lang="ru-RU" sz="2800" b="1" dirty="0" err="1">
                <a:solidFill>
                  <a:schemeClr val="accent1">
                    <a:lumMod val="75000"/>
                  </a:schemeClr>
                </a:solidFill>
              </a:rPr>
              <a:t>Git</a:t>
            </a:r>
            <a:r>
              <a:rPr lang="ru-RU" sz="2800" b="1" dirty="0">
                <a:solidFill>
                  <a:schemeClr val="accent1">
                    <a:lumMod val="75000"/>
                  </a:schemeClr>
                </a:solidFill>
              </a:rPr>
              <a:t> и ветки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1811524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349092-C420-4F14-A258-16C43E1F5C16}"/>
              </a:ext>
            </a:extLst>
          </p:cNvPr>
          <p:cNvSpPr txBox="1"/>
          <p:nvPr/>
        </p:nvSpPr>
        <p:spPr bwMode="auto">
          <a:xfrm>
            <a:off x="1127448" y="2060848"/>
            <a:ext cx="43204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0" dirty="0">
                <a:solidFill>
                  <a:srgbClr val="0F1115"/>
                </a:solidFill>
                <a:effectLst/>
                <a:latin typeface="+mj-lt"/>
              </a:rPr>
              <a:t>Git-</a:t>
            </a:r>
            <a:r>
              <a:rPr lang="ru-RU" sz="2000" b="1" i="0" dirty="0">
                <a:solidFill>
                  <a:srgbClr val="0F1115"/>
                </a:solidFill>
                <a:effectLst/>
                <a:latin typeface="+mj-lt"/>
              </a:rPr>
              <a:t>репозиторий </a:t>
            </a:r>
            <a:r>
              <a:rPr lang="en-US" sz="2000" b="1" i="0" dirty="0" err="1">
                <a:solidFill>
                  <a:srgbClr val="0F1115"/>
                </a:solidFill>
                <a:effectLst/>
                <a:latin typeface="+mj-lt"/>
              </a:rPr>
              <a:t>CountryGuide</a:t>
            </a:r>
            <a:br>
              <a:rPr lang="en-US" sz="2000" dirty="0">
                <a:latin typeface="+mj-lt"/>
              </a:rPr>
            </a:br>
            <a:r>
              <a:rPr lang="ru-RU" sz="2000" b="0" i="0" dirty="0">
                <a:solidFill>
                  <a:srgbClr val="0F1115"/>
                </a:solidFill>
                <a:effectLst/>
                <a:latin typeface="+mj-lt"/>
              </a:rPr>
              <a:t>Ветки:</a:t>
            </a:r>
            <a:br>
              <a:rPr lang="ru-RU" sz="2000" dirty="0">
                <a:latin typeface="+mj-lt"/>
              </a:rPr>
            </a:br>
            <a:r>
              <a:rPr lang="ru-RU" sz="2000" b="0" i="0" dirty="0">
                <a:solidFill>
                  <a:srgbClr val="0F1115"/>
                </a:solidFill>
                <a:effectLst/>
                <a:latin typeface="+mj-lt"/>
              </a:rPr>
              <a:t>• </a:t>
            </a:r>
            <a:r>
              <a:rPr lang="en-US" sz="2000" b="1" i="0" dirty="0">
                <a:solidFill>
                  <a:srgbClr val="0F1115"/>
                </a:solidFill>
                <a:effectLst/>
                <a:latin typeface="+mj-lt"/>
              </a:rPr>
              <a:t>main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+mj-lt"/>
              </a:rPr>
              <a:t> – 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+mj-lt"/>
              </a:rPr>
              <a:t>стабильные версии</a:t>
            </a:r>
            <a:br>
              <a:rPr lang="ru-RU" sz="2000" dirty="0">
                <a:latin typeface="+mj-lt"/>
              </a:rPr>
            </a:br>
            <a:r>
              <a:rPr lang="ru-RU" sz="2000" b="0" i="0" dirty="0">
                <a:solidFill>
                  <a:srgbClr val="0F1115"/>
                </a:solidFill>
                <a:effectLst/>
                <a:latin typeface="+mj-lt"/>
              </a:rPr>
              <a:t>• </a:t>
            </a:r>
            <a:r>
              <a:rPr lang="en-US" sz="2000" b="1" i="0" dirty="0">
                <a:solidFill>
                  <a:srgbClr val="0F1115"/>
                </a:solidFill>
                <a:effectLst/>
                <a:latin typeface="+mj-lt"/>
              </a:rPr>
              <a:t>develop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+mj-lt"/>
              </a:rPr>
              <a:t> – 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+mj-lt"/>
              </a:rPr>
              <a:t>общая разработка</a:t>
            </a:r>
            <a:br>
              <a:rPr lang="ru-RU" sz="2000" dirty="0">
                <a:latin typeface="+mj-lt"/>
              </a:rPr>
            </a:br>
            <a:r>
              <a:rPr lang="ru-RU" sz="2000" b="0" i="0" dirty="0">
                <a:solidFill>
                  <a:srgbClr val="0F1115"/>
                </a:solidFill>
                <a:effectLst/>
                <a:latin typeface="+mj-lt"/>
              </a:rPr>
              <a:t>• </a:t>
            </a:r>
            <a:r>
              <a:rPr lang="en-US" sz="2000" b="1" i="0" dirty="0" err="1">
                <a:solidFill>
                  <a:srgbClr val="0F1115"/>
                </a:solidFill>
                <a:effectLst/>
                <a:latin typeface="+mj-lt"/>
              </a:rPr>
              <a:t>developP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+mj-lt"/>
              </a:rPr>
              <a:t> – 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+mj-lt"/>
              </a:rPr>
              <a:t>ветка разработчика</a:t>
            </a:r>
            <a:br>
              <a:rPr lang="ru-RU" sz="2000" dirty="0">
                <a:latin typeface="+mj-lt"/>
              </a:rPr>
            </a:br>
            <a:r>
              <a:rPr lang="ru-RU" sz="2000" b="0" i="0" dirty="0">
                <a:solidFill>
                  <a:srgbClr val="0F1115"/>
                </a:solidFill>
                <a:effectLst/>
                <a:latin typeface="+mj-lt"/>
              </a:rPr>
              <a:t>• </a:t>
            </a:r>
            <a:r>
              <a:rPr lang="en-US" sz="2000" b="1" i="0" dirty="0" err="1">
                <a:solidFill>
                  <a:srgbClr val="0F1115"/>
                </a:solidFill>
                <a:effectLst/>
                <a:latin typeface="+mj-lt"/>
              </a:rPr>
              <a:t>developA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+mj-lt"/>
              </a:rPr>
              <a:t> – 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+mj-lt"/>
              </a:rPr>
              <a:t>ветка разработчика</a:t>
            </a:r>
            <a:endParaRPr lang="ru-RU" sz="2000" dirty="0">
              <a:latin typeface="+mj-lt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0785C06-CD7D-45FB-881C-018C74CB5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8008" y="1556792"/>
            <a:ext cx="5604122" cy="324036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FAE712A-4C1E-4DCD-A188-6355E8C60155}"/>
              </a:ext>
            </a:extLst>
          </p:cNvPr>
          <p:cNvSpPr txBox="1"/>
          <p:nvPr/>
        </p:nvSpPr>
        <p:spPr bwMode="auto">
          <a:xfrm>
            <a:off x="6816080" y="4725144"/>
            <a:ext cx="417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Репризиторий</a:t>
            </a:r>
            <a:r>
              <a:rPr lang="ru-RU" dirty="0"/>
              <a:t> на</a:t>
            </a:r>
            <a:r>
              <a:rPr lang="en-US" dirty="0"/>
              <a:t> </a:t>
            </a:r>
            <a:r>
              <a:rPr lang="en-US" sz="1800" i="0" dirty="0" err="1">
                <a:solidFill>
                  <a:srgbClr val="0F1115"/>
                </a:solidFill>
                <a:effectLst/>
              </a:rPr>
              <a:t>CountryGuide</a:t>
            </a:r>
            <a:r>
              <a:rPr lang="ru-RU" dirty="0"/>
              <a:t> </a:t>
            </a:r>
            <a:r>
              <a:rPr lang="en-US" dirty="0" err="1"/>
              <a:t>githab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58096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2639615" y="90109"/>
            <a:ext cx="7992889" cy="1143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3200" b="1" dirty="0">
                <a:solidFill>
                  <a:schemeClr val="accent2"/>
                </a:solidFill>
              </a:rPr>
              <a:t>Реализация системы: модуль с приложениями и статьями</a:t>
            </a:r>
            <a:endParaRPr lang="ru-RU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335360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DE98A5-BFB4-4DED-9873-4F585F9590A4}"/>
              </a:ext>
            </a:extLst>
          </p:cNvPr>
          <p:cNvSpPr txBox="1"/>
          <p:nvPr/>
        </p:nvSpPr>
        <p:spPr>
          <a:xfrm>
            <a:off x="716494" y="4891900"/>
            <a:ext cx="4968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Реализация модуля со статьями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4D0755-7F5A-4E84-BC1C-136831D9D66B}"/>
              </a:ext>
            </a:extLst>
          </p:cNvPr>
          <p:cNvSpPr txBox="1"/>
          <p:nvPr/>
        </p:nvSpPr>
        <p:spPr bwMode="auto">
          <a:xfrm>
            <a:off x="6312024" y="4941168"/>
            <a:ext cx="5601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Реализация модуля с приложениями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747474A-7444-4127-B0F9-82B55C859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94" y="1694384"/>
            <a:ext cx="5478704" cy="3197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DE05C51-9C0F-417A-A02A-F5F417B150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61"/>
          <a:stretch/>
        </p:blipFill>
        <p:spPr bwMode="auto">
          <a:xfrm>
            <a:off x="6479683" y="1726751"/>
            <a:ext cx="5434276" cy="3165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8625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2113764" y="90110"/>
            <a:ext cx="8352927" cy="1143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3200" b="1" dirty="0">
                <a:solidFill>
                  <a:schemeClr val="accent2"/>
                </a:solidFill>
              </a:rPr>
              <a:t>Реализация системы: модуль с категориями  и фразами</a:t>
            </a:r>
            <a:endParaRPr lang="ru-RU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335360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DE98A5-BFB4-4DED-9873-4F585F9590A4}"/>
              </a:ext>
            </a:extLst>
          </p:cNvPr>
          <p:cNvSpPr txBox="1"/>
          <p:nvPr/>
        </p:nvSpPr>
        <p:spPr>
          <a:xfrm>
            <a:off x="1703512" y="4972218"/>
            <a:ext cx="33843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Реализация модуля с разговорником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4D0755-7F5A-4E84-BC1C-136831D9D66B}"/>
              </a:ext>
            </a:extLst>
          </p:cNvPr>
          <p:cNvSpPr txBox="1"/>
          <p:nvPr/>
        </p:nvSpPr>
        <p:spPr bwMode="auto">
          <a:xfrm>
            <a:off x="7176120" y="4593061"/>
            <a:ext cx="47525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/>
              <a:t>Реализация раздела с категориями фраз и фразами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DE41E61-46F3-4E30-9F7B-D528739F86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024"/>
          <a:stretch/>
        </p:blipFill>
        <p:spPr bwMode="auto">
          <a:xfrm>
            <a:off x="407368" y="1717779"/>
            <a:ext cx="5976664" cy="3241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B0D66641-215C-4ADB-A271-E0A7ABE3FC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9036" y="1717779"/>
            <a:ext cx="4769231" cy="2850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1669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2999656" y="90110"/>
            <a:ext cx="7200801" cy="1143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3200" b="1" dirty="0">
                <a:solidFill>
                  <a:schemeClr val="accent2"/>
                </a:solidFill>
              </a:rPr>
              <a:t>Реализация системы: </a:t>
            </a:r>
            <a:r>
              <a:rPr lang="en-US" sz="3200" b="1" dirty="0">
                <a:solidFill>
                  <a:schemeClr val="accent2"/>
                </a:solidFill>
              </a:rPr>
              <a:t>CRUD </a:t>
            </a:r>
            <a:r>
              <a:rPr lang="ru-RU" sz="3200" b="1" dirty="0">
                <a:solidFill>
                  <a:schemeClr val="accent2"/>
                </a:solidFill>
              </a:rPr>
              <a:t>управления данными</a:t>
            </a:r>
            <a:endParaRPr lang="ru-RU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335360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DE98A5-BFB4-4DED-9873-4F585F9590A4}"/>
              </a:ext>
            </a:extLst>
          </p:cNvPr>
          <p:cNvSpPr txBox="1"/>
          <p:nvPr/>
        </p:nvSpPr>
        <p:spPr>
          <a:xfrm>
            <a:off x="1415480" y="5377811"/>
            <a:ext cx="37444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/>
              <a:t>Реализация части с редактированием фразы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4D0755-7F5A-4E84-BC1C-136831D9D66B}"/>
              </a:ext>
            </a:extLst>
          </p:cNvPr>
          <p:cNvSpPr txBox="1"/>
          <p:nvPr/>
        </p:nvSpPr>
        <p:spPr bwMode="auto">
          <a:xfrm>
            <a:off x="7176120" y="5413711"/>
            <a:ext cx="42238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Реализация части с добавлением страны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961E9F4-B032-4C0B-BC48-F3F983AF1F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4705" y="1436374"/>
            <a:ext cx="3952875" cy="3943350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787D4FB0-1A40-4CAE-91FD-E378D7A5C4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9558" y="1399715"/>
            <a:ext cx="3660338" cy="4058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835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2999656" y="90110"/>
            <a:ext cx="7200801" cy="1143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3200" b="1" dirty="0">
                <a:solidFill>
                  <a:schemeClr val="accent2"/>
                </a:solidFill>
              </a:rPr>
              <a:t>Реализация системы: управление пользователями</a:t>
            </a:r>
            <a:endParaRPr lang="ru-RU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335360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DE98A5-BFB4-4DED-9873-4F585F9590A4}"/>
              </a:ext>
            </a:extLst>
          </p:cNvPr>
          <p:cNvSpPr txBox="1"/>
          <p:nvPr/>
        </p:nvSpPr>
        <p:spPr>
          <a:xfrm>
            <a:off x="1847528" y="5375910"/>
            <a:ext cx="32403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/>
              <a:t>Страница создание аккаунта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4D0755-7F5A-4E84-BC1C-136831D9D66B}"/>
              </a:ext>
            </a:extLst>
          </p:cNvPr>
          <p:cNvSpPr txBox="1"/>
          <p:nvPr/>
        </p:nvSpPr>
        <p:spPr bwMode="auto">
          <a:xfrm>
            <a:off x="6744072" y="5339714"/>
            <a:ext cx="40324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/>
              <a:t>Страница авторизации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127524C-6206-490E-9F37-ED91CE6F17B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816080" y="1482090"/>
            <a:ext cx="4032448" cy="385762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6D63B07-9125-4FA7-8F0A-D0BC45ABB9ED}"/>
              </a:ext>
            </a:extLst>
          </p:cNvPr>
          <p:cNvPicPr/>
          <p:nvPr/>
        </p:nvPicPr>
        <p:blipFill rotWithShape="1">
          <a:blip r:embed="rId4"/>
          <a:srcRect l="1" r="2222"/>
          <a:stretch/>
        </p:blipFill>
        <p:spPr>
          <a:xfrm>
            <a:off x="1847528" y="1482090"/>
            <a:ext cx="3168352" cy="3857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837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2999656" y="90110"/>
            <a:ext cx="7200801" cy="1143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3200" b="1" dirty="0">
                <a:solidFill>
                  <a:schemeClr val="accent2"/>
                </a:solidFill>
              </a:rPr>
              <a:t>Реализация системы: управление пользователями</a:t>
            </a:r>
            <a:endParaRPr lang="ru-RU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335360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DE98A5-BFB4-4DED-9873-4F585F9590A4}"/>
              </a:ext>
            </a:extLst>
          </p:cNvPr>
          <p:cNvSpPr txBox="1"/>
          <p:nvPr/>
        </p:nvSpPr>
        <p:spPr>
          <a:xfrm>
            <a:off x="839416" y="5170437"/>
            <a:ext cx="32403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/>
              <a:t>Страница создание аккаунта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4D0755-7F5A-4E84-BC1C-136831D9D66B}"/>
              </a:ext>
            </a:extLst>
          </p:cNvPr>
          <p:cNvSpPr txBox="1"/>
          <p:nvPr/>
        </p:nvSpPr>
        <p:spPr bwMode="auto">
          <a:xfrm>
            <a:off x="4223792" y="5714032"/>
            <a:ext cx="40324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/>
              <a:t>Страница создания поездки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ABE99D2-1A86-4BDC-A5B1-FE336785D088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384" y="1709416"/>
            <a:ext cx="4032448" cy="3402972"/>
          </a:xfrm>
          <a:prstGeom prst="rect">
            <a:avLst/>
          </a:prstGeom>
          <a:noFill/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35F3ABF-0157-4A7F-ADEB-9362BCE80E7B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087888" y="1237932"/>
            <a:ext cx="2414270" cy="438213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8BB4851-C395-4A62-8002-5916A2F0584A}"/>
              </a:ext>
            </a:extLst>
          </p:cNvPr>
          <p:cNvSpPr txBox="1"/>
          <p:nvPr/>
        </p:nvSpPr>
        <p:spPr bwMode="auto">
          <a:xfrm>
            <a:off x="7824192" y="5858673"/>
            <a:ext cx="40324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/>
              <a:t>Страница создания поездки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35E186C-1D64-43E0-B76F-23B24B8869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6790" y="1300229"/>
            <a:ext cx="3267252" cy="4523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4114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2999656" y="90110"/>
            <a:ext cx="7200801" cy="1143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3200" b="1" dirty="0">
                <a:solidFill>
                  <a:schemeClr val="accent2"/>
                </a:solidFill>
              </a:rPr>
              <a:t>Реализация системы: </a:t>
            </a:r>
            <a:r>
              <a:rPr lang="en-US" sz="3200" b="1" dirty="0">
                <a:solidFill>
                  <a:schemeClr val="accent2"/>
                </a:solidFill>
              </a:rPr>
              <a:t>CRUD </a:t>
            </a:r>
            <a:r>
              <a:rPr lang="ru-RU" sz="3200" b="1" dirty="0">
                <a:solidFill>
                  <a:schemeClr val="accent2"/>
                </a:solidFill>
              </a:rPr>
              <a:t>управления данными</a:t>
            </a:r>
            <a:endParaRPr lang="ru-RU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335360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DE98A5-BFB4-4DED-9873-4F585F9590A4}"/>
              </a:ext>
            </a:extLst>
          </p:cNvPr>
          <p:cNvSpPr txBox="1"/>
          <p:nvPr/>
        </p:nvSpPr>
        <p:spPr>
          <a:xfrm>
            <a:off x="631850" y="4787563"/>
            <a:ext cx="38097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/>
              <a:t>Страница со списком стран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4D0755-7F5A-4E84-BC1C-136831D9D66B}"/>
              </a:ext>
            </a:extLst>
          </p:cNvPr>
          <p:cNvSpPr txBox="1"/>
          <p:nvPr/>
        </p:nvSpPr>
        <p:spPr bwMode="auto">
          <a:xfrm>
            <a:off x="8008547" y="4787563"/>
            <a:ext cx="40324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/>
              <a:t>Модальное окно для подтверждения удаления страны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8CCC53D-A5FD-4DFD-9A9C-DA38A99B6FD6}"/>
              </a:ext>
            </a:extLst>
          </p:cNvPr>
          <p:cNvPicPr/>
          <p:nvPr/>
        </p:nvPicPr>
        <p:blipFill rotWithShape="1">
          <a:blip r:embed="rId3"/>
          <a:srcRect l="14378" r="16522"/>
          <a:stretch/>
        </p:blipFill>
        <p:spPr bwMode="auto">
          <a:xfrm>
            <a:off x="551384" y="1844824"/>
            <a:ext cx="4104456" cy="28702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98ED2CA-BE3C-462E-B9C9-F2D5BD6FB4B4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7752184" y="1867624"/>
            <a:ext cx="4265181" cy="28702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37B7E0F-B1C0-46EE-8054-73F8BB717BEE}"/>
              </a:ext>
            </a:extLst>
          </p:cNvPr>
          <p:cNvPicPr/>
          <p:nvPr/>
        </p:nvPicPr>
        <p:blipFill rotWithShape="1">
          <a:blip r:embed="rId5"/>
          <a:srcRect r="10145" b="9030"/>
          <a:stretch/>
        </p:blipFill>
        <p:spPr bwMode="auto">
          <a:xfrm>
            <a:off x="5053040" y="1704975"/>
            <a:ext cx="2376051" cy="316418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2FCC755-AD55-40E6-9C43-1CAC52A317CD}"/>
              </a:ext>
            </a:extLst>
          </p:cNvPr>
          <p:cNvSpPr txBox="1"/>
          <p:nvPr/>
        </p:nvSpPr>
        <p:spPr bwMode="auto">
          <a:xfrm>
            <a:off x="4295800" y="4941699"/>
            <a:ext cx="38097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/>
              <a:t>Страница создания страны</a:t>
            </a:r>
          </a:p>
        </p:txBody>
      </p:sp>
    </p:spTree>
    <p:extLst>
      <p:ext uri="{BB962C8B-B14F-4D97-AF65-F5344CB8AC3E}">
        <p14:creationId xmlns:p14="http://schemas.microsoft.com/office/powerpoint/2010/main" val="9616551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775520" y="90109"/>
            <a:ext cx="10297143" cy="1143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3200" b="1" dirty="0">
                <a:solidFill>
                  <a:schemeClr val="accent2"/>
                </a:solidFill>
              </a:rPr>
              <a:t>Тестирование риски</a:t>
            </a:r>
            <a:endParaRPr lang="ru-RU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335360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14D3996E-12D2-4487-AC82-CC7BD455F0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4334058"/>
              </p:ext>
            </p:extLst>
          </p:nvPr>
        </p:nvGraphicFramePr>
        <p:xfrm>
          <a:off x="695400" y="1212007"/>
          <a:ext cx="4339563" cy="4607939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1446521">
                  <a:extLst>
                    <a:ext uri="{9D8B030D-6E8A-4147-A177-3AD203B41FA5}">
                      <a16:colId xmlns:a16="http://schemas.microsoft.com/office/drawing/2014/main" val="357774642"/>
                    </a:ext>
                  </a:extLst>
                </a:gridCol>
                <a:gridCol w="1446521">
                  <a:extLst>
                    <a:ext uri="{9D8B030D-6E8A-4147-A177-3AD203B41FA5}">
                      <a16:colId xmlns:a16="http://schemas.microsoft.com/office/drawing/2014/main" val="201458891"/>
                    </a:ext>
                  </a:extLst>
                </a:gridCol>
                <a:gridCol w="1446521">
                  <a:extLst>
                    <a:ext uri="{9D8B030D-6E8A-4147-A177-3AD203B41FA5}">
                      <a16:colId xmlns:a16="http://schemas.microsoft.com/office/drawing/2014/main" val="1445505700"/>
                    </a:ext>
                  </a:extLst>
                </a:gridCol>
              </a:tblGrid>
              <a:tr h="176555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 dirty="0">
                          <a:effectLst/>
                        </a:rPr>
                        <a:t>Риск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Вероятность (%)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 dirty="0">
                          <a:effectLst/>
                        </a:rPr>
                        <a:t>Степень ущерба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0468835"/>
                  </a:ext>
                </a:extLst>
              </a:tr>
              <a:tr h="377164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Неполные требования ПО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70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Высокая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3481619"/>
                  </a:ext>
                </a:extLst>
              </a:tr>
              <a:tr h="176555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Ошибки в коде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60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Средняя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1703446"/>
                  </a:ext>
                </a:extLst>
              </a:tr>
              <a:tr h="577773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Нехватка квалифицированных специалистов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50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Высокая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8890512"/>
                  </a:ext>
                </a:extLst>
              </a:tr>
              <a:tr h="377164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Неправильное управление проектом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50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Высокая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2458720"/>
                  </a:ext>
                </a:extLst>
              </a:tr>
              <a:tr h="577773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Изменение требований в процессе разработки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40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Средняя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1707396"/>
                  </a:ext>
                </a:extLst>
              </a:tr>
              <a:tr h="377164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Устаревание технологий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30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Маленькая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4405945"/>
                  </a:ext>
                </a:extLst>
              </a:tr>
              <a:tr h="377164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Ошибки и баги в существующем коде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50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Средняя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0569047"/>
                  </a:ext>
                </a:extLst>
              </a:tr>
              <a:tr h="377164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Нехватка документации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40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Средняя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2899537"/>
                  </a:ext>
                </a:extLst>
              </a:tr>
              <a:tr h="377164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Изменение требований к ПО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50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Средняя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9443951"/>
                  </a:ext>
                </a:extLst>
              </a:tr>
              <a:tr h="377164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Проблемы с совместимостью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40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Средняя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9945922"/>
                  </a:ext>
                </a:extLst>
              </a:tr>
              <a:tr h="377164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Проблемы с безопасностью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>
                          <a:effectLst/>
                        </a:rPr>
                        <a:t>50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tabLst>
                          <a:tab pos="4686300" algn="l"/>
                        </a:tabLst>
                      </a:pPr>
                      <a:r>
                        <a:rPr lang="ru-RU" sz="900" dirty="0">
                          <a:effectLst/>
                        </a:rPr>
                        <a:t>Высокая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52" marR="5015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6963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F244B94-0B6B-4D68-98B2-4FDFB9E7E6CB}"/>
              </a:ext>
            </a:extLst>
          </p:cNvPr>
          <p:cNvSpPr txBox="1"/>
          <p:nvPr/>
        </p:nvSpPr>
        <p:spPr>
          <a:xfrm>
            <a:off x="1430078" y="5813269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Риски из тестового плана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31BB39-2817-49B3-8669-D4965B84FAB5}"/>
              </a:ext>
            </a:extLst>
          </p:cNvPr>
          <p:cNvSpPr txBox="1"/>
          <p:nvPr/>
        </p:nvSpPr>
        <p:spPr bwMode="auto">
          <a:xfrm>
            <a:off x="8040216" y="4211597"/>
            <a:ext cx="15931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Этапы проекта</a:t>
            </a:r>
          </a:p>
        </p:txBody>
      </p: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8B148D76-5086-413F-8046-7239255CD7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8360227"/>
              </p:ext>
            </p:extLst>
          </p:nvPr>
        </p:nvGraphicFramePr>
        <p:xfrm>
          <a:off x="5591944" y="2276872"/>
          <a:ext cx="5941060" cy="1931416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3062664">
                  <a:extLst>
                    <a:ext uri="{9D8B030D-6E8A-4147-A177-3AD203B41FA5}">
                      <a16:colId xmlns:a16="http://schemas.microsoft.com/office/drawing/2014/main" val="966786229"/>
                    </a:ext>
                  </a:extLst>
                </a:gridCol>
                <a:gridCol w="2878396">
                  <a:extLst>
                    <a:ext uri="{9D8B030D-6E8A-4147-A177-3AD203B41FA5}">
                      <a16:colId xmlns:a16="http://schemas.microsoft.com/office/drawing/2014/main" val="30979536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200" dirty="0">
                          <a:effectLst/>
                        </a:rPr>
                        <a:t>Этапы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Длительность (дни)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55162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Сбор и анализ требований к ПО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2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5181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Проектирование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4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1582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200" dirty="0">
                          <a:effectLst/>
                        </a:rPr>
                        <a:t>Разработка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4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9410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Тестирование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1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3155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Запуск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1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3657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Поддержка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Всё время, пока используется ПО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376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</a:rPr>
                        <a:t>Обслуживание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200" dirty="0">
                          <a:effectLst/>
                        </a:rPr>
                        <a:t>Всё время, пока используется ПО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291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26980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775520" y="90109"/>
            <a:ext cx="10297143" cy="1143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3200" b="1" dirty="0">
                <a:solidFill>
                  <a:schemeClr val="accent2"/>
                </a:solidFill>
              </a:rPr>
              <a:t>Тестирование: Тест-кейсы</a:t>
            </a:r>
            <a:endParaRPr lang="ru-RU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335360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931BB39-2817-49B3-8669-D4965B84FAB5}"/>
              </a:ext>
            </a:extLst>
          </p:cNvPr>
          <p:cNvSpPr txBox="1"/>
          <p:nvPr/>
        </p:nvSpPr>
        <p:spPr bwMode="auto">
          <a:xfrm>
            <a:off x="5627947" y="5703259"/>
            <a:ext cx="1836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Часть тест-кейсов</a:t>
            </a: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1133A7F7-A93C-496A-89A4-7AE86BCF27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620776"/>
              </p:ext>
            </p:extLst>
          </p:nvPr>
        </p:nvGraphicFramePr>
        <p:xfrm>
          <a:off x="3935760" y="1166019"/>
          <a:ext cx="4984929" cy="4525962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299789">
                  <a:extLst>
                    <a:ext uri="{9D8B030D-6E8A-4147-A177-3AD203B41FA5}">
                      <a16:colId xmlns:a16="http://schemas.microsoft.com/office/drawing/2014/main" val="2162661961"/>
                    </a:ext>
                  </a:extLst>
                </a:gridCol>
                <a:gridCol w="841757">
                  <a:extLst>
                    <a:ext uri="{9D8B030D-6E8A-4147-A177-3AD203B41FA5}">
                      <a16:colId xmlns:a16="http://schemas.microsoft.com/office/drawing/2014/main" val="954693386"/>
                    </a:ext>
                  </a:extLst>
                </a:gridCol>
                <a:gridCol w="1262102">
                  <a:extLst>
                    <a:ext uri="{9D8B030D-6E8A-4147-A177-3AD203B41FA5}">
                      <a16:colId xmlns:a16="http://schemas.microsoft.com/office/drawing/2014/main" val="3479278435"/>
                    </a:ext>
                  </a:extLst>
                </a:gridCol>
                <a:gridCol w="911103">
                  <a:extLst>
                    <a:ext uri="{9D8B030D-6E8A-4147-A177-3AD203B41FA5}">
                      <a16:colId xmlns:a16="http://schemas.microsoft.com/office/drawing/2014/main" val="4048093768"/>
                    </a:ext>
                  </a:extLst>
                </a:gridCol>
                <a:gridCol w="911103">
                  <a:extLst>
                    <a:ext uri="{9D8B030D-6E8A-4147-A177-3AD203B41FA5}">
                      <a16:colId xmlns:a16="http://schemas.microsoft.com/office/drawing/2014/main" val="2796423649"/>
                    </a:ext>
                  </a:extLst>
                </a:gridCol>
                <a:gridCol w="759075">
                  <a:extLst>
                    <a:ext uri="{9D8B030D-6E8A-4147-A177-3AD203B41FA5}">
                      <a16:colId xmlns:a16="http://schemas.microsoft.com/office/drawing/2014/main" val="1368125333"/>
                    </a:ext>
                  </a:extLst>
                </a:gridCol>
              </a:tblGrid>
              <a:tr h="663697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№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11" marR="57611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</a:rPr>
                        <a:t>Тест-кейс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11" marR="57611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</a:rPr>
                        <a:t>Шаги тест-кейса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11" marR="57611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Ожидаемый результат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11" marR="57611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000" dirty="0">
                          <a:effectLst/>
                        </a:rPr>
                        <a:t>Фактический результат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11" marR="57611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Прохождение теста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11" marR="57611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0563788"/>
                  </a:ext>
                </a:extLst>
              </a:tr>
              <a:tr h="2046354"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1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11" marR="57611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</a:rPr>
                        <a:t>Просмотр списка статей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11" marR="57611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</a:rPr>
                        <a:t>1. Зайти на сайт. 2. Перейти в раздел "Статьи и приложения". 3. Выбрать страну из выпадающего списка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11" marR="57611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Отображаются статьи выбранной страны с названием (ссылка) и датой обновления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11" marR="57611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</a:rPr>
                        <a:t>Отображаются статьи выбранной страны с названием (ссылка) и датой обновления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11" marR="57611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Успешное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11" marR="57611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3822570"/>
                  </a:ext>
                </a:extLst>
              </a:tr>
              <a:tr h="1815911"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2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11" marR="57611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</a:rPr>
                        <a:t>Просмотр списка приложений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11" marR="57611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</a:rPr>
                        <a:t>1. Зайти на сайт. 2. Перейти в раздел "Статьи и приложения". 3. Выбрать страну из выпадающего списка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11" marR="57611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</a:rPr>
                        <a:t>Отображаются приложения выбранной страны с названием, описанием и логотипом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11" marR="57611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</a:rPr>
                        <a:t>Отображаются приложения выбранной страны с названием, описанием и логотипом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11" marR="57611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</a:rPr>
                        <a:t>Успешное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611" marR="57611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22867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76430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775520" y="90109"/>
            <a:ext cx="10297143" cy="1143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3200" b="1" dirty="0">
                <a:solidFill>
                  <a:schemeClr val="accent2"/>
                </a:solidFill>
              </a:rPr>
              <a:t>Тестирование </a:t>
            </a:r>
            <a:r>
              <a:rPr lang="en-US" sz="3200" b="1" dirty="0">
                <a:solidFill>
                  <a:schemeClr val="accent2"/>
                </a:solidFill>
              </a:rPr>
              <a:t>unit </a:t>
            </a:r>
            <a:r>
              <a:rPr lang="ru-RU" sz="3200" b="1" dirty="0">
                <a:solidFill>
                  <a:schemeClr val="accent2"/>
                </a:solidFill>
              </a:rPr>
              <a:t>тесты</a:t>
            </a:r>
            <a:endParaRPr lang="ru-RU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335360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0BBAC7C-FC50-4E84-B2BF-5578292BA85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9776" y="1140259"/>
            <a:ext cx="5267325" cy="43199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2CE501-63EC-4574-A739-0CF6889ACDCE}"/>
              </a:ext>
            </a:extLst>
          </p:cNvPr>
          <p:cNvSpPr txBox="1"/>
          <p:nvPr/>
        </p:nvSpPr>
        <p:spPr>
          <a:xfrm>
            <a:off x="5519936" y="5430183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Прохождение </a:t>
            </a:r>
            <a:r>
              <a:rPr lang="en-US" sz="1600" dirty="0"/>
              <a:t>unit-</a:t>
            </a:r>
            <a:r>
              <a:rPr lang="ru-RU" sz="1600" dirty="0"/>
              <a:t>тестов</a:t>
            </a:r>
          </a:p>
        </p:txBody>
      </p:sp>
    </p:spTree>
    <p:extLst>
      <p:ext uri="{BB962C8B-B14F-4D97-AF65-F5344CB8AC3E}">
        <p14:creationId xmlns:p14="http://schemas.microsoft.com/office/powerpoint/2010/main" val="11687466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775520" y="90109"/>
            <a:ext cx="10297143" cy="1143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3200" b="1" dirty="0">
                <a:solidFill>
                  <a:schemeClr val="accent2"/>
                </a:solidFill>
              </a:rPr>
              <a:t>Тестирование риски</a:t>
            </a:r>
            <a:endParaRPr lang="ru-RU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335360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F244B94-0B6B-4D68-98B2-4FDFB9E7E6CB}"/>
              </a:ext>
            </a:extLst>
          </p:cNvPr>
          <p:cNvSpPr txBox="1"/>
          <p:nvPr/>
        </p:nvSpPr>
        <p:spPr>
          <a:xfrm>
            <a:off x="7536160" y="5813269"/>
            <a:ext cx="36578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Тест-кейсы на проверку безопасность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267F95-C53B-4B70-A3FB-DAB9679BE939}"/>
              </a:ext>
            </a:extLst>
          </p:cNvPr>
          <p:cNvSpPr txBox="1"/>
          <p:nvPr/>
        </p:nvSpPr>
        <p:spPr bwMode="auto">
          <a:xfrm>
            <a:off x="2207568" y="5791038"/>
            <a:ext cx="30817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Тест-кейсы на адаптивность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5946D487-86F3-40AA-A4BB-77325ACC0D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479994"/>
              </p:ext>
            </p:extLst>
          </p:nvPr>
        </p:nvGraphicFramePr>
        <p:xfrm>
          <a:off x="839416" y="1287305"/>
          <a:ext cx="5256584" cy="4525964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1148672">
                  <a:extLst>
                    <a:ext uri="{9D8B030D-6E8A-4147-A177-3AD203B41FA5}">
                      <a16:colId xmlns:a16="http://schemas.microsoft.com/office/drawing/2014/main" val="665464659"/>
                    </a:ext>
                  </a:extLst>
                </a:gridCol>
                <a:gridCol w="2456462">
                  <a:extLst>
                    <a:ext uri="{9D8B030D-6E8A-4147-A177-3AD203B41FA5}">
                      <a16:colId xmlns:a16="http://schemas.microsoft.com/office/drawing/2014/main" val="227779063"/>
                    </a:ext>
                  </a:extLst>
                </a:gridCol>
                <a:gridCol w="1651450">
                  <a:extLst>
                    <a:ext uri="{9D8B030D-6E8A-4147-A177-3AD203B41FA5}">
                      <a16:colId xmlns:a16="http://schemas.microsoft.com/office/drawing/2014/main" val="1586151674"/>
                    </a:ext>
                  </a:extLst>
                </a:gridCol>
              </a:tblGrid>
              <a:tr h="252948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Тест-кейс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635" marR="33635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Шаги тест кейса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635" marR="33635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Ожидаемый результат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635" marR="33635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475019"/>
                  </a:ext>
                </a:extLst>
              </a:tr>
              <a:tr h="2136508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Отображение страниц сайта на устройстве </a:t>
                      </a:r>
                      <a:r>
                        <a:rPr lang="en-US" sz="1200">
                          <a:effectLst/>
                        </a:rPr>
                        <a:t>iPhone</a:t>
                      </a:r>
                      <a:r>
                        <a:rPr lang="ru-RU" sz="1200">
                          <a:effectLst/>
                        </a:rPr>
                        <a:t> 12 </a:t>
                      </a:r>
                      <a:r>
                        <a:rPr lang="en-US" sz="1200">
                          <a:effectLst/>
                        </a:rPr>
                        <a:t>Pro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635" marR="33635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1. Открыть браузер настроить отображение на iPhone 12 Pro.</a:t>
                      </a:r>
                    </a:p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2. Ввести адрес сайта. 3. Дождаться полной загрузки страницы.</a:t>
                      </a:r>
                    </a:p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4. Проверить отображение заголовка, текста с цитатой и кнопки «Начать путешествие». 5. Проверить работу навигационного меню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635" marR="33635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Все элементы главной страницы отображаются корректно, текст читаем без горизонтальной прокрутки, кнопка имеет достаточный размер для нажатия пальцем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635" marR="33635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0460163"/>
                  </a:ext>
                </a:extLst>
              </a:tr>
              <a:tr h="2136508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Отображение страниц сайта на устройстве </a:t>
                      </a:r>
                      <a:r>
                        <a:rPr lang="en-US" sz="1200">
                          <a:effectLst/>
                        </a:rPr>
                        <a:t>Samsung Galaxy S</a:t>
                      </a:r>
                      <a:r>
                        <a:rPr lang="ru-RU" sz="1200">
                          <a:effectLst/>
                        </a:rPr>
                        <a:t>8+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635" marR="33635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1. Открыть браузер настроить отображение на </a:t>
                      </a:r>
                      <a:r>
                        <a:rPr lang="en-US" sz="1200">
                          <a:effectLst/>
                        </a:rPr>
                        <a:t>Galaxy S</a:t>
                      </a:r>
                      <a:r>
                        <a:rPr lang="ru-RU" sz="1200">
                          <a:effectLst/>
                        </a:rPr>
                        <a:t>8+.</a:t>
                      </a:r>
                    </a:p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2. Ввести адрес сайта. 3. Дождаться полной загрузки страницы.</a:t>
                      </a:r>
                    </a:p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4. Проверить отображение заголовка, текста с цитатой и кнопки «Начать путешествие». 5. Проверить работу навигационного меню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635" marR="33635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</a:rPr>
                        <a:t>Все элементы главной страницы отображаются корректно, текст читаем без горизонтальной прокрутки, кнопка имеет достаточный размер для нажатия пальцем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635" marR="33635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0820555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80D3D2D7-4438-4C98-BA1A-0476D845D2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902122"/>
              </p:ext>
            </p:extLst>
          </p:nvPr>
        </p:nvGraphicFramePr>
        <p:xfrm>
          <a:off x="6672064" y="1279294"/>
          <a:ext cx="4796663" cy="4584486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1216988">
                  <a:extLst>
                    <a:ext uri="{9D8B030D-6E8A-4147-A177-3AD203B41FA5}">
                      <a16:colId xmlns:a16="http://schemas.microsoft.com/office/drawing/2014/main" val="169651318"/>
                    </a:ext>
                  </a:extLst>
                </a:gridCol>
                <a:gridCol w="2140585">
                  <a:extLst>
                    <a:ext uri="{9D8B030D-6E8A-4147-A177-3AD203B41FA5}">
                      <a16:colId xmlns:a16="http://schemas.microsoft.com/office/drawing/2014/main" val="2108212654"/>
                    </a:ext>
                  </a:extLst>
                </a:gridCol>
                <a:gridCol w="1439090">
                  <a:extLst>
                    <a:ext uri="{9D8B030D-6E8A-4147-A177-3AD203B41FA5}">
                      <a16:colId xmlns:a16="http://schemas.microsoft.com/office/drawing/2014/main" val="1970270309"/>
                    </a:ext>
                  </a:extLst>
                </a:gridCol>
              </a:tblGrid>
              <a:tr h="318756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Тест-кейс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82" marR="3098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Шаги тест кейса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82" marR="3098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Ожидаемый результат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82" marR="3098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3491813"/>
                  </a:ext>
                </a:extLst>
              </a:tr>
              <a:tr h="1596228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Регистрация нового пользователя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82" marR="3098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1. Открыть страницу регистрации.</a:t>
                      </a:r>
                    </a:p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2. Заполнить все поля формы (email, пароль, имя, фамилия, телефон). (</a:t>
                      </a:r>
                      <a:r>
                        <a:rPr lang="en-US" sz="1200" u="sng">
                          <a:effectLst/>
                          <a:hlinkClick r:id="rId3"/>
                        </a:rPr>
                        <a:t>maria@gmail.com</a:t>
                      </a:r>
                      <a:r>
                        <a:rPr lang="ru-RU" sz="1200">
                          <a:effectLst/>
                        </a:rPr>
                        <a:t>, </a:t>
                      </a:r>
                      <a:r>
                        <a:rPr lang="en-US" sz="1200">
                          <a:effectLst/>
                        </a:rPr>
                        <a:t>123qwet. </a:t>
                      </a:r>
                      <a:r>
                        <a:rPr lang="ru-RU" sz="1200">
                          <a:effectLst/>
                        </a:rPr>
                        <a:t>, Перевезенцева, 88005553535)</a:t>
                      </a:r>
                    </a:p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3. Нажать кнопку «Зарегистрироваться».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82" marR="3098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Пользователь успешно создан, выполнено перенаправление на страницу входа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82" marR="3098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6171727"/>
                  </a:ext>
                </a:extLst>
              </a:tr>
              <a:tr h="1224438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Регистрация с существующим email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82" marR="3098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1. Попытаться зарегистрироваться с email (</a:t>
                      </a:r>
                      <a:r>
                        <a:rPr lang="en-US" sz="1200" u="sng">
                          <a:effectLst/>
                          <a:hlinkClick r:id="rId3"/>
                        </a:rPr>
                        <a:t>maria</a:t>
                      </a:r>
                      <a:r>
                        <a:rPr lang="ru-RU" sz="1200" u="sng">
                          <a:effectLst/>
                          <a:hlinkClick r:id="rId3"/>
                        </a:rPr>
                        <a:t>@</a:t>
                      </a:r>
                      <a:r>
                        <a:rPr lang="en-US" sz="1200" u="sng">
                          <a:effectLst/>
                          <a:hlinkClick r:id="rId3"/>
                        </a:rPr>
                        <a:t>gmail</a:t>
                      </a:r>
                      <a:r>
                        <a:rPr lang="ru-RU" sz="1200" u="sng">
                          <a:effectLst/>
                          <a:hlinkClick r:id="rId3"/>
                        </a:rPr>
                        <a:t>.</a:t>
                      </a:r>
                      <a:r>
                        <a:rPr lang="en-US" sz="1200" u="sng">
                          <a:effectLst/>
                          <a:hlinkClick r:id="rId3"/>
                        </a:rPr>
                        <a:t>com</a:t>
                      </a:r>
                      <a:r>
                        <a:rPr lang="ru-RU" sz="1200">
                          <a:effectLst/>
                        </a:rPr>
                        <a:t>), который уже зарегистрирован в системе.</a:t>
                      </a:r>
                    </a:p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2. Нажать кнопку «Зарегистрироваться».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82" marR="3098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Появляется сообщение об ошибке, регистрация не выполняется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82" marR="3098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9463374"/>
                  </a:ext>
                </a:extLst>
              </a:tr>
              <a:tr h="1348368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</a:rPr>
                        <a:t>Вход в систему с правильными данными (обычный пользователь)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82" marR="3098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1. Открыть страницу входа.</a:t>
                      </a:r>
                    </a:p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2. Ввести email и пароль зарегистрированного обычного пользователя. (</a:t>
                      </a:r>
                      <a:r>
                        <a:rPr lang="en-US" sz="1200" u="sng">
                          <a:effectLst/>
                          <a:hlinkClick r:id="rId3"/>
                        </a:rPr>
                        <a:t>maria@gmail.com</a:t>
                      </a:r>
                      <a:r>
                        <a:rPr lang="ru-RU" sz="1200">
                          <a:effectLst/>
                        </a:rPr>
                        <a:t>, </a:t>
                      </a:r>
                      <a:r>
                        <a:rPr lang="en-US" sz="1200">
                          <a:effectLst/>
                        </a:rPr>
                        <a:t>123qwet</a:t>
                      </a:r>
                      <a:r>
                        <a:rPr lang="ru-RU" sz="1200">
                          <a:effectLst/>
                        </a:rPr>
                        <a:t>)</a:t>
                      </a:r>
                    </a:p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3. Нажать кнопку «Войти».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82" marR="3098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</a:rPr>
                        <a:t>Выполнен успешный вход, пользователь перенаправлен на главную страницу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982" marR="30982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69079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99344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775520" y="90109"/>
            <a:ext cx="10297143" cy="1143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3200" b="1" dirty="0">
                <a:solidFill>
                  <a:schemeClr val="accent2"/>
                </a:solidFill>
              </a:rPr>
              <a:t>Тестирование: Тест-кейсы</a:t>
            </a:r>
            <a:endParaRPr lang="ru-RU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335360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931BB39-2817-49B3-8669-D4965B84FAB5}"/>
              </a:ext>
            </a:extLst>
          </p:cNvPr>
          <p:cNvSpPr txBox="1"/>
          <p:nvPr/>
        </p:nvSpPr>
        <p:spPr bwMode="auto">
          <a:xfrm>
            <a:off x="3791744" y="5349240"/>
            <a:ext cx="5472608" cy="458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215" algn="ctr">
              <a:lnSpc>
                <a:spcPct val="150000"/>
              </a:lnSpc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Тест-кейсы на работу с поездкой и бюджетом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DFD54461-6D97-4191-B86E-951745D492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596284"/>
              </p:ext>
            </p:extLst>
          </p:nvPr>
        </p:nvGraphicFramePr>
        <p:xfrm>
          <a:off x="2063552" y="1508760"/>
          <a:ext cx="8640959" cy="3840480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651031">
                  <a:extLst>
                    <a:ext uri="{9D8B030D-6E8A-4147-A177-3AD203B41FA5}">
                      <a16:colId xmlns:a16="http://schemas.microsoft.com/office/drawing/2014/main" val="3683437579"/>
                    </a:ext>
                  </a:extLst>
                </a:gridCol>
                <a:gridCol w="1128209">
                  <a:extLst>
                    <a:ext uri="{9D8B030D-6E8A-4147-A177-3AD203B41FA5}">
                      <a16:colId xmlns:a16="http://schemas.microsoft.com/office/drawing/2014/main" val="2344476825"/>
                    </a:ext>
                  </a:extLst>
                </a:gridCol>
                <a:gridCol w="2412697">
                  <a:extLst>
                    <a:ext uri="{9D8B030D-6E8A-4147-A177-3AD203B41FA5}">
                      <a16:colId xmlns:a16="http://schemas.microsoft.com/office/drawing/2014/main" val="2461224100"/>
                    </a:ext>
                  </a:extLst>
                </a:gridCol>
                <a:gridCol w="1622028">
                  <a:extLst>
                    <a:ext uri="{9D8B030D-6E8A-4147-A177-3AD203B41FA5}">
                      <a16:colId xmlns:a16="http://schemas.microsoft.com/office/drawing/2014/main" val="3218647210"/>
                    </a:ext>
                  </a:extLst>
                </a:gridCol>
                <a:gridCol w="1388067">
                  <a:extLst>
                    <a:ext uri="{9D8B030D-6E8A-4147-A177-3AD203B41FA5}">
                      <a16:colId xmlns:a16="http://schemas.microsoft.com/office/drawing/2014/main" val="4281118809"/>
                    </a:ext>
                  </a:extLst>
                </a:gridCol>
                <a:gridCol w="1438927">
                  <a:extLst>
                    <a:ext uri="{9D8B030D-6E8A-4147-A177-3AD203B41FA5}">
                      <a16:colId xmlns:a16="http://schemas.microsoft.com/office/drawing/2014/main" val="152217907"/>
                    </a:ext>
                  </a:extLst>
                </a:gridCol>
              </a:tblGrid>
              <a:tr h="248193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</a:rPr>
                        <a:t>№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544" marR="21544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</a:rPr>
                        <a:t>Тест-кейс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544" marR="21544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</a:rPr>
                        <a:t>Шаги тест кейса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544" marR="21544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Ожидаемый результат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544" marR="21544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Фактический результат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544" marR="21544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Прохождение теста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544" marR="21544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8329204"/>
                  </a:ext>
                </a:extLst>
              </a:tr>
              <a:tr h="1971701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</a:rPr>
                        <a:t>1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544" marR="21544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</a:rPr>
                        <a:t>Создание поездки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544" marR="21544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</a:rPr>
                        <a:t>1. Авторизоваться в системе.</a:t>
                      </a:r>
                    </a:p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</a:rPr>
                        <a:t>2. Перейти на страницу создания поездки.</a:t>
                      </a:r>
                    </a:p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</a:rPr>
                        <a:t>3. Выбрать страну из выпадающего списка (Мексика)</a:t>
                      </a:r>
                    </a:p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</a:rPr>
                        <a:t>4. Выбрать дату начала поездки (01.06.2026)</a:t>
                      </a:r>
                    </a:p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</a:rPr>
                        <a:t>5. Выбрать дату окончания поездки (06.06.2026)</a:t>
                      </a:r>
                    </a:p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</a:rPr>
                        <a:t>6. Ввести общий бюджет (90000)</a:t>
                      </a:r>
                    </a:p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</a:rPr>
                        <a:t>7. Ввести дневной лимит. (9000)</a:t>
                      </a:r>
                    </a:p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</a:rPr>
                        <a:t>8. Нажать кнопку «Создать поездку»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544" marR="21544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</a:rPr>
                        <a:t>Поездка успешно создана, выполнено перенаправление на страницу бюджета, отображаются общий бюджет, потрачено (0) и остаток (равен бюджету)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544" marR="21544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</a:rPr>
                        <a:t>Совпадает с ожидаемым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544" marR="21544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</a:rPr>
                        <a:t>Пройден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544" marR="21544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2170175"/>
                  </a:ext>
                </a:extLst>
              </a:tr>
              <a:tr h="1023771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2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544" marR="21544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</a:rPr>
                        <a:t>Создание поездки с пустыми полями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544" marR="21544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</a:rPr>
                        <a:t>1. Авторизоваться в системе.</a:t>
                      </a:r>
                    </a:p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</a:rPr>
                        <a:t>2. Перейти на страницу создания поездки.</a:t>
                      </a:r>
                    </a:p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</a:rPr>
                        <a:t>3. Не заполнять обязательные поля (страна, даты, бюджет).</a:t>
                      </a:r>
                    </a:p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</a:rPr>
                        <a:t>4. Нажать «Создать поездку»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544" marR="21544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</a:rPr>
                        <a:t>Появляются сообщения об ошибках валидации, поездка не создаётся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544" marR="21544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</a:rPr>
                        <a:t>Совпадает с ожидаемым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544" marR="21544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</a:rPr>
                        <a:t>Пройден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544" marR="21544" marT="0" marB="0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86086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32361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775520" y="90109"/>
            <a:ext cx="10297143" cy="1143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3200" b="1" dirty="0">
                <a:solidFill>
                  <a:schemeClr val="accent2"/>
                </a:solidFill>
              </a:rPr>
              <a:t>Тестирование </a:t>
            </a:r>
            <a:r>
              <a:rPr lang="en-US" sz="3200" b="1" dirty="0">
                <a:solidFill>
                  <a:schemeClr val="accent2"/>
                </a:solidFill>
              </a:rPr>
              <a:t>unit </a:t>
            </a:r>
            <a:r>
              <a:rPr lang="ru-RU" sz="3200" b="1" dirty="0">
                <a:solidFill>
                  <a:schemeClr val="accent2"/>
                </a:solidFill>
              </a:rPr>
              <a:t>тесты</a:t>
            </a:r>
            <a:endParaRPr lang="ru-RU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335360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2CE501-63EC-4574-A739-0CF6889ACDCE}"/>
              </a:ext>
            </a:extLst>
          </p:cNvPr>
          <p:cNvSpPr txBox="1"/>
          <p:nvPr/>
        </p:nvSpPr>
        <p:spPr>
          <a:xfrm>
            <a:off x="7968208" y="4215525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Прохождение </a:t>
            </a:r>
            <a:r>
              <a:rPr lang="en-US" sz="1600" dirty="0"/>
              <a:t>unit-</a:t>
            </a:r>
            <a:r>
              <a:rPr lang="ru-RU" sz="1600" dirty="0"/>
              <a:t>тестов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00F4FA-138B-4B5A-A069-B08325575D2E}"/>
              </a:ext>
            </a:extLst>
          </p:cNvPr>
          <p:cNvSpPr txBox="1"/>
          <p:nvPr/>
        </p:nvSpPr>
        <p:spPr>
          <a:xfrm>
            <a:off x="-240704" y="2204864"/>
            <a:ext cx="6336704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215" algn="l">
              <a:lnSpc>
                <a:spcPts val="1425"/>
              </a:lnSpc>
            </a:pPr>
            <a:r>
              <a:rPr lang="en-US" sz="1200" dirty="0">
                <a:solidFill>
                  <a:srgbClr val="4A4A4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200" dirty="0">
                <a:solidFill>
                  <a:srgbClr val="DD00A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200" dirty="0">
                <a:solidFill>
                  <a:srgbClr val="4A4A4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1" dirty="0" err="1">
                <a:solidFill>
                  <a:srgbClr val="058B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test_country_list_view_contains_countries</a:t>
            </a:r>
            <a:r>
              <a:rPr lang="en-US" sz="1200" dirty="0">
                <a:solidFill>
                  <a:srgbClr val="4A4A4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0074E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ru-RU" sz="1200" dirty="0">
                <a:solidFill>
                  <a:srgbClr val="0074E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>
              <a:lnSpc>
                <a:spcPts val="1425"/>
              </a:lnSpc>
            </a:pPr>
            <a:r>
              <a:rPr lang="en-US" sz="1200" dirty="0">
                <a:solidFill>
                  <a:srgbClr val="4A4A4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response = </a:t>
            </a:r>
            <a:r>
              <a:rPr lang="en-US" sz="1200" dirty="0" err="1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200" dirty="0" err="1">
                <a:solidFill>
                  <a:srgbClr val="4A4A4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.client.</a:t>
            </a:r>
            <a:r>
              <a:rPr lang="en-US" sz="1200" dirty="0" err="1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lang="en-US" sz="1200" dirty="0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(reverse(</a:t>
            </a:r>
            <a:r>
              <a:rPr lang="en-US" sz="1200" dirty="0">
                <a:solidFill>
                  <a:srgbClr val="003E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200" dirty="0" err="1">
                <a:solidFill>
                  <a:srgbClr val="003E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guides:country_list</a:t>
            </a:r>
            <a:r>
              <a:rPr lang="en-US" sz="1200" dirty="0">
                <a:solidFill>
                  <a:srgbClr val="003E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200" dirty="0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ru-RU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>
              <a:lnSpc>
                <a:spcPts val="1425"/>
              </a:lnSpc>
            </a:pPr>
            <a:r>
              <a:rPr lang="en-US" sz="1200" dirty="0">
                <a:solidFill>
                  <a:srgbClr val="4A4A4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200" dirty="0" err="1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200" dirty="0" err="1">
                <a:solidFill>
                  <a:srgbClr val="4A4A4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 err="1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assertEqual</a:t>
            </a:r>
            <a:r>
              <a:rPr lang="en-US" sz="1200" dirty="0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response.status_code</a:t>
            </a:r>
            <a:r>
              <a:rPr lang="en-US" sz="1200" dirty="0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dirty="0">
                <a:solidFill>
                  <a:srgbClr val="003E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200</a:t>
            </a:r>
            <a:r>
              <a:rPr lang="en-US" sz="1200" dirty="0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>
              <a:lnSpc>
                <a:spcPts val="1425"/>
              </a:lnSpc>
            </a:pPr>
            <a:r>
              <a:rPr lang="en-US" sz="1200" dirty="0">
                <a:solidFill>
                  <a:srgbClr val="4A4A4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200" dirty="0" err="1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200" dirty="0" err="1">
                <a:solidFill>
                  <a:srgbClr val="4A4A4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 err="1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assertContains</a:t>
            </a:r>
            <a:r>
              <a:rPr lang="en-US" sz="1200" dirty="0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(response, </a:t>
            </a:r>
            <a:r>
              <a:rPr lang="en-US" sz="1200" dirty="0">
                <a:solidFill>
                  <a:srgbClr val="003E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ru-RU" sz="1200" dirty="0">
                <a:solidFill>
                  <a:srgbClr val="003E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Мексика</a:t>
            </a:r>
            <a:r>
              <a:rPr lang="en-US" sz="1200" dirty="0">
                <a:solidFill>
                  <a:srgbClr val="003E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200" dirty="0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>
              <a:lnSpc>
                <a:spcPts val="1425"/>
              </a:lnSpc>
            </a:pPr>
            <a:r>
              <a:rPr lang="en-US" sz="1200" dirty="0">
                <a:solidFill>
                  <a:srgbClr val="4A4A4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200" dirty="0" err="1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200" dirty="0" err="1">
                <a:solidFill>
                  <a:srgbClr val="4A4A4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 err="1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assertContains</a:t>
            </a:r>
            <a:r>
              <a:rPr lang="en-US" sz="1200" dirty="0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(response, </a:t>
            </a:r>
            <a:r>
              <a:rPr lang="en-US" sz="1200" dirty="0">
                <a:solidFill>
                  <a:srgbClr val="003E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ru-RU" sz="1200" dirty="0">
                <a:solidFill>
                  <a:srgbClr val="003E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Бразилия</a:t>
            </a:r>
            <a:r>
              <a:rPr lang="en-US" sz="1200" dirty="0">
                <a:solidFill>
                  <a:srgbClr val="003E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200" dirty="0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>
              <a:lnSpc>
                <a:spcPts val="1425"/>
              </a:lnSpc>
            </a:pPr>
            <a:r>
              <a:rPr lang="en-US" sz="1200" dirty="0">
                <a:solidFill>
                  <a:srgbClr val="4A4A4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200" dirty="0" err="1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200" dirty="0" err="1">
                <a:solidFill>
                  <a:srgbClr val="4A4A4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 err="1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assertContains</a:t>
            </a:r>
            <a:r>
              <a:rPr lang="en-US" sz="1200" dirty="0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(response, </a:t>
            </a:r>
            <a:r>
              <a:rPr lang="en-US" sz="1200" dirty="0">
                <a:solidFill>
                  <a:srgbClr val="003E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ru-RU" sz="1200" dirty="0">
                <a:solidFill>
                  <a:srgbClr val="003E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Дания</a:t>
            </a:r>
            <a:r>
              <a:rPr lang="en-US" sz="1200" dirty="0">
                <a:solidFill>
                  <a:srgbClr val="003E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200" dirty="0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>
              <a:lnSpc>
                <a:spcPts val="1425"/>
              </a:lnSpc>
            </a:pPr>
            <a:r>
              <a:rPr lang="en-US" sz="1200" dirty="0">
                <a:solidFill>
                  <a:srgbClr val="4A4A4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200" dirty="0" err="1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200" dirty="0" err="1">
                <a:solidFill>
                  <a:srgbClr val="4A4A4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 err="1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assertContains</a:t>
            </a:r>
            <a:r>
              <a:rPr lang="en-US" sz="1200" dirty="0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(response, </a:t>
            </a:r>
            <a:r>
              <a:rPr lang="en-US" sz="1200" dirty="0">
                <a:solidFill>
                  <a:srgbClr val="003E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ru-RU" sz="1200" dirty="0">
                <a:solidFill>
                  <a:srgbClr val="003E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Япония</a:t>
            </a:r>
            <a:r>
              <a:rPr lang="en-US" sz="1200" dirty="0">
                <a:solidFill>
                  <a:srgbClr val="003E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200" dirty="0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>
              <a:lnSpc>
                <a:spcPts val="1425"/>
              </a:lnSpc>
            </a:pPr>
            <a:r>
              <a:rPr lang="en-US" sz="1200" dirty="0">
                <a:solidFill>
                  <a:srgbClr val="4A4A4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200" dirty="0" err="1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200" dirty="0" err="1">
                <a:solidFill>
                  <a:srgbClr val="4A4A4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 err="1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assertContains</a:t>
            </a:r>
            <a:r>
              <a:rPr lang="en-US" sz="1200" dirty="0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(response, </a:t>
            </a:r>
            <a:r>
              <a:rPr lang="en-US" sz="1200" dirty="0">
                <a:solidFill>
                  <a:srgbClr val="003E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ru-RU" sz="1200" dirty="0">
                <a:solidFill>
                  <a:srgbClr val="003E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Марокко</a:t>
            </a:r>
            <a:r>
              <a:rPr lang="en-US" sz="1200" dirty="0">
                <a:solidFill>
                  <a:srgbClr val="003E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200" dirty="0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>
              <a:lnSpc>
                <a:spcPts val="1425"/>
              </a:lnSpc>
            </a:pPr>
            <a:r>
              <a:rPr lang="en-US" sz="1200" dirty="0">
                <a:solidFill>
                  <a:srgbClr val="4A4A4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200" dirty="0" err="1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200" dirty="0" err="1">
                <a:solidFill>
                  <a:srgbClr val="4A4A4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 err="1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assertContains</a:t>
            </a:r>
            <a:r>
              <a:rPr lang="en-US" sz="1200" dirty="0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(response, </a:t>
            </a:r>
            <a:r>
              <a:rPr lang="en-US" sz="1200" dirty="0">
                <a:solidFill>
                  <a:srgbClr val="003E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ru-RU" sz="1200" dirty="0">
                <a:solidFill>
                  <a:srgbClr val="003E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Австралия</a:t>
            </a:r>
            <a:r>
              <a:rPr lang="en-US" sz="1200" dirty="0">
                <a:solidFill>
                  <a:srgbClr val="003E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200" dirty="0">
                <a:solidFill>
                  <a:srgbClr val="8000D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2615C00-9B4F-41B0-922C-DF71E53B1C0D}"/>
              </a:ext>
            </a:extLst>
          </p:cNvPr>
          <p:cNvPicPr/>
          <p:nvPr/>
        </p:nvPicPr>
        <p:blipFill rotWithShape="1">
          <a:blip r:embed="rId3"/>
          <a:srcRect r="3016"/>
          <a:stretch/>
        </p:blipFill>
        <p:spPr>
          <a:xfrm>
            <a:off x="6023992" y="2132856"/>
            <a:ext cx="5760640" cy="1992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8523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3647728" y="330168"/>
            <a:ext cx="6120680" cy="662883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2800" b="1" dirty="0">
                <a:solidFill>
                  <a:schemeClr val="accent1">
                    <a:lumMod val="75000"/>
                  </a:schemeClr>
                </a:solidFill>
              </a:rPr>
              <a:t>Итоги работы: </a:t>
            </a:r>
            <a:r>
              <a:rPr lang="ru-RU" sz="2800" b="1" dirty="0" err="1">
                <a:solidFill>
                  <a:schemeClr val="accent1">
                    <a:lumMod val="75000"/>
                  </a:schemeClr>
                </a:solidFill>
              </a:rPr>
              <a:t>Канбан</a:t>
            </a:r>
            <a:r>
              <a:rPr lang="ru-RU" sz="2800" b="1" dirty="0">
                <a:solidFill>
                  <a:schemeClr val="accent1">
                    <a:lumMod val="75000"/>
                  </a:schemeClr>
                </a:solidFill>
              </a:rPr>
              <a:t>-доска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1811524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349092-C420-4F14-A258-16C43E1F5C16}"/>
              </a:ext>
            </a:extLst>
          </p:cNvPr>
          <p:cNvSpPr txBox="1"/>
          <p:nvPr/>
        </p:nvSpPr>
        <p:spPr bwMode="auto">
          <a:xfrm>
            <a:off x="1415480" y="1757657"/>
            <a:ext cx="504056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Выполнено: </a:t>
            </a:r>
            <a:r>
              <a:rPr lang="ru-RU" sz="2000" dirty="0"/>
              <a:t>29 задач</a:t>
            </a:r>
          </a:p>
          <a:p>
            <a:r>
              <a:rPr lang="ru-RU" sz="2000" b="1" dirty="0"/>
              <a:t>Отложено: </a:t>
            </a:r>
            <a:r>
              <a:rPr lang="ru-RU" sz="2000" dirty="0"/>
              <a:t>2 задачи</a:t>
            </a:r>
          </a:p>
          <a:p>
            <a:pPr algn="l"/>
            <a:r>
              <a:rPr lang="ru-RU" sz="2000" b="1" i="0" dirty="0">
                <a:solidFill>
                  <a:srgbClr val="0F1115"/>
                </a:solidFill>
                <a:effectLst/>
              </a:rPr>
              <a:t>Основные задачи:</a:t>
            </a:r>
            <a:endParaRPr lang="ru-RU" sz="2000" b="0" i="0" dirty="0">
              <a:solidFill>
                <a:srgbClr val="0F1115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</a:rPr>
              <a:t>Формирование команды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i="0" dirty="0">
                <a:solidFill>
                  <a:srgbClr val="0F1115"/>
                </a:solidFill>
                <a:effectLst/>
              </a:rPr>
              <a:t> Составление Концепция проекта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i="0" dirty="0">
                <a:solidFill>
                  <a:srgbClr val="0F1115"/>
                </a:solidFill>
                <a:effectLst/>
              </a:rPr>
              <a:t>Плановая документация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i="0" dirty="0">
                <a:solidFill>
                  <a:srgbClr val="0F1115"/>
                </a:solidFill>
                <a:effectLst/>
              </a:rPr>
              <a:t>UML-</a:t>
            </a:r>
            <a:r>
              <a:rPr lang="ru-RU" sz="2000" i="0" dirty="0">
                <a:solidFill>
                  <a:srgbClr val="0F1115"/>
                </a:solidFill>
                <a:effectLst/>
              </a:rPr>
              <a:t>диаграммы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</a:rPr>
              <a:t>Реализация системы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</a:rPr>
              <a:t>Тестовая документация</a:t>
            </a:r>
          </a:p>
          <a:p>
            <a:pPr algn="l"/>
            <a:endParaRPr lang="ru-RU" sz="20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ru-RU" sz="2000" dirty="0"/>
          </a:p>
          <a:p>
            <a:endParaRPr lang="ru-RU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2FC703-E201-4274-8FFB-CA0A3F2B9C64}"/>
              </a:ext>
            </a:extLst>
          </p:cNvPr>
          <p:cNvSpPr txBox="1"/>
          <p:nvPr/>
        </p:nvSpPr>
        <p:spPr bwMode="auto">
          <a:xfrm>
            <a:off x="6888088" y="4941168"/>
            <a:ext cx="3647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Итоговое состояние </a:t>
            </a:r>
            <a:r>
              <a:rPr lang="ru-RU" dirty="0" err="1"/>
              <a:t>канбан</a:t>
            </a:r>
            <a:r>
              <a:rPr lang="ru-RU" dirty="0"/>
              <a:t> доски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AEFFBCE3-9EEB-4E12-ACE8-E782C20859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1904" y="1279594"/>
            <a:ext cx="6768752" cy="3594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1707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2153562" y="90110"/>
            <a:ext cx="8064896" cy="1143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3200" b="1" dirty="0">
                <a:solidFill>
                  <a:schemeClr val="accent2"/>
                </a:solidFill>
              </a:rPr>
              <a:t>Заключение</a:t>
            </a:r>
            <a:endParaRPr lang="ru-RU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335360" y="182962"/>
            <a:ext cx="1224136" cy="9572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8779DF-D361-4752-AF56-DB1EA51D7662}"/>
              </a:ext>
            </a:extLst>
          </p:cNvPr>
          <p:cNvSpPr txBox="1"/>
          <p:nvPr/>
        </p:nvSpPr>
        <p:spPr bwMode="auto">
          <a:xfrm>
            <a:off x="2063552" y="1628800"/>
            <a:ext cx="8244916" cy="3072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49263" algn="just"/>
            <a:r>
              <a:rPr lang="ru-RU" dirty="0"/>
              <a:t>Входе прохождения учебной практики были закреплены теоретические знания и приобретены практические навыки в области проектирования, разработки информационных систем, интеграции с хранилищем данных и использовании системы контроля версий при командной работе.</a:t>
            </a:r>
          </a:p>
          <a:p>
            <a:pPr indent="449263" algn="just"/>
            <a:r>
              <a:rPr lang="ru-RU" dirty="0"/>
              <a:t>Были последовательно изучены принципы формирования и организации команды, распределение ролей, проектирования информационных систем, командной разработки, тестирования и составления документации.</a:t>
            </a:r>
          </a:p>
          <a:p>
            <a:pPr indent="449263" algn="just"/>
            <a:r>
              <a:rPr lang="ru-RU" dirty="0"/>
              <a:t>В результате работы создан полностью функционирующий модуль контентного наполнения, интегрированный с общей системой. </a:t>
            </a:r>
          </a:p>
          <a:p>
            <a:pPr indent="449263" algn="just">
              <a:lnSpc>
                <a:spcPct val="150000"/>
              </a:lnSpc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46135610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праведливость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Другая 1">
      <a:majorFont>
        <a:latin typeface="Times New Roman"/>
        <a:ea typeface="Arial"/>
        <a:cs typeface="Arial"/>
      </a:majorFont>
      <a:minorFont>
        <a:latin typeface="Times New Roman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1780</TotalTime>
  <Words>1523</Words>
  <Application>Microsoft Office PowerPoint</Application>
  <DocSecurity>0</DocSecurity>
  <PresentationFormat>Широкоэкранный</PresentationFormat>
  <Paragraphs>244</Paragraphs>
  <Slides>24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9" baseType="lpstr">
      <vt:lpstr>Arial</vt:lpstr>
      <vt:lpstr>Consolas</vt:lpstr>
      <vt:lpstr>quote-cjk-patch</vt:lpstr>
      <vt:lpstr>Times New Roman</vt:lpstr>
      <vt:lpstr>Тема Office</vt:lpstr>
      <vt:lpstr>ПМ.02 Осуществление интеграции программных модулей </vt:lpstr>
      <vt:lpstr>Цель и задачи</vt:lpstr>
      <vt:lpstr>Концепция информационной системы</vt:lpstr>
      <vt:lpstr>Архитектура системы</vt:lpstr>
      <vt:lpstr>Презентация PowerPoint</vt:lpstr>
      <vt:lpstr>Презентация PowerPoint</vt:lpstr>
      <vt:lpstr>Плановая документация и разработка UML-диаграмм</vt:lpstr>
      <vt:lpstr>Плановая документация и разработка UML-диаграмм</vt:lpstr>
      <vt:lpstr>Создание канбан-доски</vt:lpstr>
      <vt:lpstr>Управление версиями: Git и ветки</vt:lpstr>
      <vt:lpstr>Реализация системы: модуль с приложениями и статьями</vt:lpstr>
      <vt:lpstr>Реализация системы: модуль с категориями  и фразами</vt:lpstr>
      <vt:lpstr>Реализация системы: CRUD управления данными</vt:lpstr>
      <vt:lpstr>Реализация системы: управление пользователями</vt:lpstr>
      <vt:lpstr>Реализация системы: управление пользователями</vt:lpstr>
      <vt:lpstr>Реализация системы: CRUD управления данными</vt:lpstr>
      <vt:lpstr>Тестирование риски</vt:lpstr>
      <vt:lpstr>Тестирование: Тест-кейсы</vt:lpstr>
      <vt:lpstr>Тестирование unit тесты</vt:lpstr>
      <vt:lpstr>Тестирование риски</vt:lpstr>
      <vt:lpstr>Тестирование: Тест-кейсы</vt:lpstr>
      <vt:lpstr>Тестирование unit тесты</vt:lpstr>
      <vt:lpstr>Итоги работы: Канбан-доска</vt:lpstr>
      <vt:lpstr>Заключение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User</dc:creator>
  <cp:keywords/>
  <dc:description/>
  <cp:lastModifiedBy>Mari</cp:lastModifiedBy>
  <cp:revision>207</cp:revision>
  <dcterms:created xsi:type="dcterms:W3CDTF">2019-05-16T05:43:42Z</dcterms:created>
  <dcterms:modified xsi:type="dcterms:W3CDTF">2026-06-02T17:03:10Z</dcterms:modified>
  <cp:category/>
  <dc:identifier/>
  <cp:contentStatus/>
  <dc:language/>
  <cp:version/>
</cp:coreProperties>
</file>