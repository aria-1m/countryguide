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331" r:id="rId5"/>
    <p:sldId id="340" r:id="rId6"/>
    <p:sldId id="341" r:id="rId7"/>
    <p:sldId id="292" r:id="rId8"/>
    <p:sldId id="306" r:id="rId9"/>
    <p:sldId id="291" r:id="rId10"/>
    <p:sldId id="338" r:id="rId11"/>
    <p:sldId id="293" r:id="rId12"/>
    <p:sldId id="308" r:id="rId13"/>
    <p:sldId id="310" r:id="rId14"/>
    <p:sldId id="343" r:id="rId15"/>
    <p:sldId id="345" r:id="rId16"/>
    <p:sldId id="344" r:id="rId17"/>
    <p:sldId id="296" r:id="rId18"/>
    <p:sldId id="309" r:id="rId19"/>
    <p:sldId id="294" r:id="rId20"/>
    <p:sldId id="350" r:id="rId21"/>
    <p:sldId id="349" r:id="rId22"/>
    <p:sldId id="348" r:id="rId23"/>
    <p:sldId id="339" r:id="rId24"/>
    <p:sldId id="351" r:id="rId25"/>
    <p:sldId id="352" r:id="rId26"/>
    <p:sldId id="303" r:id="rId27"/>
  </p:sldIdLst>
  <p:sldSz cx="12192000" cy="6858000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14673-6291-E95B-8A48-E9062BF18BBB}">
  <a:tblStyle styleId="{7D414673-6291-E95B-8A48-E9062BF18BBB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>
      <p:cViewPr varScale="1">
        <p:scale>
          <a:sx n="114" d="100"/>
          <a:sy n="114" d="100"/>
        </p:scale>
        <p:origin x="186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1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39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2162C4-37D7-4349-9C5B-6674379EBFE0}" type="datetimeFigureOut">
              <a:rPr lang="ru-RU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maria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508734" y="2612910"/>
            <a:ext cx="7772400" cy="469244"/>
          </a:xfrm>
        </p:spPr>
        <p:txBody>
          <a:bodyPr>
            <a:normAutofit fontScale="90000"/>
          </a:bodyPr>
          <a:lstStyle/>
          <a:p>
            <a:pPr>
              <a:lnSpc>
                <a:spcPct val="114999"/>
              </a:lnSpc>
              <a:spcAft>
                <a:spcPts val="1000"/>
              </a:spcAft>
              <a:defRPr/>
            </a:pPr>
            <a:r>
              <a:rPr lang="ru-RU" sz="2400" b="1" dirty="0">
                <a:latin typeface="Times New Roman"/>
                <a:ea typeface="Times New Roman"/>
                <a:cs typeface="Times New Roman"/>
              </a:rPr>
              <a:t>ПМ.02 Осуществление интеграции программных модулей</a:t>
            </a:r>
            <a:br>
              <a:rPr lang="ru-RU" sz="2400" b="1" dirty="0">
                <a:latin typeface="Times New Roman"/>
                <a:ea typeface="Times New Roman"/>
                <a:cs typeface="Times New Roman"/>
              </a:rPr>
            </a:br>
            <a:endParaRPr lang="ru-RU" sz="24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 bwMode="auto">
          <a:xfrm>
            <a:off x="1814385" y="3356992"/>
            <a:ext cx="8466749" cy="7923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 b="1" dirty="0">
                <a:solidFill>
                  <a:schemeClr val="accent1">
                    <a:lumMod val="75000"/>
                  </a:schemeClr>
                </a:solidFill>
              </a:rPr>
              <a:t>специальность 09.02.07  Информационные системы и программирование</a:t>
            </a:r>
            <a:endParaRPr dirty="0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1847529" y="108069"/>
            <a:ext cx="8466749" cy="1462956"/>
            <a:chOff x="323528" y="108069"/>
            <a:chExt cx="8466749" cy="146295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323528" y="108069"/>
              <a:ext cx="1872208" cy="14629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tretch/>
          </p:blipFill>
          <p:spPr bwMode="auto">
            <a:xfrm>
              <a:off x="2555776" y="476672"/>
              <a:ext cx="6234501" cy="72575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" name="Прямоугольник 7"/>
          <p:cNvSpPr/>
          <p:nvPr/>
        </p:nvSpPr>
        <p:spPr bwMode="auto">
          <a:xfrm>
            <a:off x="3143672" y="1879234"/>
            <a:ext cx="7007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ОТЧЕТ ПО УЧЕБНОЙ ПРАКТИКЕ</a:t>
            </a:r>
            <a:endParaRPr sz="3200"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7072958" y="4040598"/>
            <a:ext cx="341553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/>
              <a:t>Выполнила: Александрова А.А. </a:t>
            </a:r>
            <a:r>
              <a:rPr lang="ru-RU" dirty="0" err="1"/>
              <a:t>Перевезенцева</a:t>
            </a:r>
            <a:r>
              <a:rPr lang="ru-RU" dirty="0"/>
              <a:t> М.С.</a:t>
            </a:r>
            <a:endParaRPr dirty="0"/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dirty="0"/>
              <a:t>Группа: 31П</a:t>
            </a:r>
            <a:endParaRPr dirty="0"/>
          </a:p>
          <a:p>
            <a:pPr>
              <a:defRPr/>
            </a:pPr>
            <a:r>
              <a:rPr lang="ru-RU" dirty="0"/>
              <a:t>Руководитель: </a:t>
            </a:r>
            <a:r>
              <a:rPr lang="ru-RU" dirty="0" err="1"/>
              <a:t>Мамшева</a:t>
            </a:r>
            <a:r>
              <a:rPr lang="ru-RU" dirty="0"/>
              <a:t> Ю.С.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5096976" y="6058163"/>
            <a:ext cx="199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dirty="0"/>
              <a:t>Нижний Новгород</a:t>
            </a:r>
            <a:endParaRPr dirty="0"/>
          </a:p>
          <a:p>
            <a:pPr algn="ctr">
              <a:defRPr/>
            </a:pPr>
            <a:r>
              <a:rPr lang="ru-RU" dirty="0"/>
              <a:t>2026г.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551384" y="279076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51384" y="313296"/>
            <a:ext cx="11640616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Цель и задачи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0F273-80C0-4E9A-900D-D5CC33AACC41}"/>
              </a:ext>
            </a:extLst>
          </p:cNvPr>
          <p:cNvSpPr txBox="1"/>
          <p:nvPr/>
        </p:nvSpPr>
        <p:spPr>
          <a:xfrm>
            <a:off x="1415480" y="1870165"/>
            <a:ext cx="93610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Целью практики являлось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закрепление теоретических знаний и приобретение практических навыков в области проектирования, разработки информационных систем, интеграции с хранилищем данных и использования системы контроля версий при командной работе.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процессе практики были последовательно решены следующие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изучены принципы формирования и организации команды,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распределены роли в команде,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проектирована информационная система,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командная разработка проекта,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тестирование и составление документации.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Концепция информационной системы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C263FB-1AB2-49A5-99A8-69D9AE54C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93" y="1654339"/>
            <a:ext cx="2292860" cy="2126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2BB363-23D9-47F0-BBF2-EE0D0FE138E6}"/>
              </a:ext>
            </a:extLst>
          </p:cNvPr>
          <p:cNvSpPr txBox="1"/>
          <p:nvPr/>
        </p:nvSpPr>
        <p:spPr>
          <a:xfrm>
            <a:off x="8884979" y="3826282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Логотип «Гид по странам»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028C8-3450-41EC-A175-7CA0CA1B558C}"/>
              </a:ext>
            </a:extLst>
          </p:cNvPr>
          <p:cNvSpPr txBox="1"/>
          <p:nvPr/>
        </p:nvSpPr>
        <p:spPr>
          <a:xfrm>
            <a:off x="1113813" y="1484784"/>
            <a:ext cx="7920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pPr indent="457200"/>
            <a:r>
              <a:rPr lang="ru-RU" dirty="0"/>
              <a:t>«</a:t>
            </a:r>
            <a:r>
              <a:rPr lang="ru-RU" b="1" dirty="0"/>
              <a:t>Гид по странам</a:t>
            </a:r>
            <a:r>
              <a:rPr lang="ru-RU" dirty="0"/>
              <a:t>» —веб-приложение-гид для путешественников, объединяющее функции финансового планирования, управления расходами и справочной информацией о странах. Приложение помогает туристам подготовиться к поездке, контролировать бюджет в реальном времени и получать актуальную информацию о стране пребывания: полезные фразы на местном языке, рекомендации локальных приложений (карты, такси, переводчики, доставка еды), а также статьи с важными правилами и рекомендациями.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3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23364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Архитектура системы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551384" y="1630810"/>
            <a:ext cx="63367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</a:rPr>
              <a:t>Архитектура ГПС</a:t>
            </a:r>
            <a:br>
              <a:rPr lang="ru-RU" sz="2000" b="0" i="0" dirty="0">
                <a:solidFill>
                  <a:srgbClr val="0F1115"/>
                </a:solidFill>
                <a:effectLst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</a:rPr>
              <a:t>Клиент -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Django (Backend) 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-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 SQLite (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БД) - Внешние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API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</a:rPr>
              <a:t>Модули системы:</a:t>
            </a:r>
            <a:endParaRPr lang="ru-RU" sz="2000" b="0" i="0" dirty="0">
              <a:solidFill>
                <a:srgbClr val="0F1115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Пользовательский модуль (регистрация, авторизация, роли)</a:t>
            </a:r>
            <a:endParaRPr lang="ru-RU" sz="2000" dirty="0">
              <a:solidFill>
                <a:srgbClr val="0F1115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стран и поездок (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CRUD, 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бюджет)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разговорника (категории, фразы)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статьи и приложения (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CRUD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API (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курсы валют, новости)</a:t>
            </a:r>
          </a:p>
          <a:p>
            <a:pPr algn="l"/>
            <a:r>
              <a:rPr lang="en-US" sz="2000" b="1" i="0" dirty="0">
                <a:solidFill>
                  <a:srgbClr val="0F1115"/>
                </a:solidFill>
                <a:effectLst/>
              </a:rPr>
              <a:t>ER-</a:t>
            </a:r>
            <a:r>
              <a:rPr lang="ru-RU" sz="2000" b="1" i="0" dirty="0">
                <a:solidFill>
                  <a:srgbClr val="0F1115"/>
                </a:solidFill>
                <a:effectLst/>
              </a:rPr>
              <a:t>диаграмма:</a:t>
            </a:r>
            <a:br>
              <a:rPr lang="ru-RU" sz="2000" b="0" i="0" dirty="0">
                <a:solidFill>
                  <a:srgbClr val="0F1115"/>
                </a:solidFill>
                <a:effectLst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</a:rPr>
              <a:t>Сущности: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User, Country, Trip, Budget, Phrase, </a:t>
            </a:r>
            <a:r>
              <a:rPr lang="en-US" sz="2000" b="0" i="0" dirty="0" err="1">
                <a:solidFill>
                  <a:srgbClr val="0F1115"/>
                </a:solidFill>
                <a:effectLst/>
              </a:rPr>
              <a:t>LocalApp</a:t>
            </a:r>
            <a:endParaRPr lang="en-US" sz="2000" b="0" i="0" dirty="0">
              <a:solidFill>
                <a:srgbClr val="0F1115"/>
              </a:solidFill>
              <a:effectLst/>
            </a:endParaRPr>
          </a:p>
          <a:p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31DBC9-3ABB-4A2A-B1AA-76E010BE9C8E}"/>
              </a:ext>
            </a:extLst>
          </p:cNvPr>
          <p:cNvPicPr/>
          <p:nvPr/>
        </p:nvPicPr>
        <p:blipFill rotWithShape="1">
          <a:blip r:embed="rId3"/>
          <a:srcRect b="2513"/>
          <a:stretch/>
        </p:blipFill>
        <p:spPr>
          <a:xfrm>
            <a:off x="6960095" y="1010530"/>
            <a:ext cx="4482063" cy="5185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16D648-636E-43A7-B77D-2130755A7878}"/>
              </a:ext>
            </a:extLst>
          </p:cNvPr>
          <p:cNvSpPr txBox="1"/>
          <p:nvPr/>
        </p:nvSpPr>
        <p:spPr bwMode="auto">
          <a:xfrm>
            <a:off x="7248128" y="6165304"/>
            <a:ext cx="448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ER </a:t>
            </a:r>
            <a:r>
              <a:rPr lang="ru-RU" dirty="0"/>
              <a:t>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291454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E712A-4C1E-4DCD-A188-6355E8C60155}"/>
              </a:ext>
            </a:extLst>
          </p:cNvPr>
          <p:cNvSpPr txBox="1"/>
          <p:nvPr/>
        </p:nvSpPr>
        <p:spPr bwMode="auto">
          <a:xfrm>
            <a:off x="6477128" y="5340842"/>
            <a:ext cx="506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Диаграмма классов 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36FDC6-9851-49BB-A0A4-582A907E2C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3492" y="1377399"/>
            <a:ext cx="4104456" cy="39634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A8F731-B7B4-42DD-9D8A-EC2B093E1B4B}"/>
              </a:ext>
            </a:extLst>
          </p:cNvPr>
          <p:cNvSpPr txBox="1"/>
          <p:nvPr/>
        </p:nvSpPr>
        <p:spPr bwMode="auto">
          <a:xfrm>
            <a:off x="1451484" y="534084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Диаграмма использования 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230F38-223D-47F8-ACD9-F69422450F2A}"/>
              </a:ext>
            </a:extLst>
          </p:cNvPr>
          <p:cNvPicPr/>
          <p:nvPr/>
        </p:nvPicPr>
        <p:blipFill rotWithShape="1">
          <a:blip r:embed="rId4"/>
          <a:srcRect l="8337" r="2512"/>
          <a:stretch/>
        </p:blipFill>
        <p:spPr bwMode="auto">
          <a:xfrm>
            <a:off x="6477129" y="1377399"/>
            <a:ext cx="5068765" cy="39634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3128CE0-11E2-449F-ABB4-58336E24C0BE}"/>
              </a:ext>
            </a:extLst>
          </p:cNvPr>
          <p:cNvSpPr txBox="1">
            <a:spLocks/>
          </p:cNvSpPr>
          <p:nvPr/>
        </p:nvSpPr>
        <p:spPr bwMode="auto">
          <a:xfrm>
            <a:off x="2855640" y="115829"/>
            <a:ext cx="80648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76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E712A-4C1E-4DCD-A188-6355E8C60155}"/>
              </a:ext>
            </a:extLst>
          </p:cNvPr>
          <p:cNvSpPr txBox="1"/>
          <p:nvPr/>
        </p:nvSpPr>
        <p:spPr bwMode="auto">
          <a:xfrm>
            <a:off x="4557840" y="465313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коммуникаций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8FFF08-42FE-4C6B-9DF7-131361DEFE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5400" y="1412776"/>
            <a:ext cx="3664743" cy="4176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62DCEE-D72C-425D-9A4B-DCB3BF5ADC5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968208" y="1306844"/>
            <a:ext cx="3456146" cy="44827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70B1A19-C357-4001-BD87-30868377C7F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654550" y="2319020"/>
            <a:ext cx="2882900" cy="2219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C2C885-4A21-49C2-A19E-3A59B8D66C71}"/>
              </a:ext>
            </a:extLst>
          </p:cNvPr>
          <p:cNvSpPr txBox="1"/>
          <p:nvPr/>
        </p:nvSpPr>
        <p:spPr bwMode="auto">
          <a:xfrm>
            <a:off x="7798200" y="5877272"/>
            <a:ext cx="384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последовательности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2255B-6AD6-44FD-8B41-8318FCFE5BED}"/>
              </a:ext>
            </a:extLst>
          </p:cNvPr>
          <p:cNvSpPr txBox="1"/>
          <p:nvPr/>
        </p:nvSpPr>
        <p:spPr bwMode="auto">
          <a:xfrm>
            <a:off x="690843" y="5514058"/>
            <a:ext cx="384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деятельности </a:t>
            </a:r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D4EDD7B-E10A-4D1A-A246-C91EFB37EB4F}"/>
              </a:ext>
            </a:extLst>
          </p:cNvPr>
          <p:cNvSpPr txBox="1">
            <a:spLocks/>
          </p:cNvSpPr>
          <p:nvPr/>
        </p:nvSpPr>
        <p:spPr bwMode="auto">
          <a:xfrm>
            <a:off x="3035660" y="119992"/>
            <a:ext cx="80648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11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51584" y="182962"/>
            <a:ext cx="8064895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CC127F-4A90-4C20-98D3-A8DAE32F6D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816" y="1736088"/>
            <a:ext cx="3968328" cy="3421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2438533" y="5235250"/>
            <a:ext cx="2553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развёртывания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026C77-10FE-439B-8DD3-2897223F12B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728" y="1736088"/>
            <a:ext cx="4104456" cy="3489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7536160" y="5222515"/>
            <a:ext cx="2370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130801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100079" y="5328597"/>
            <a:ext cx="26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деятельности мониторинга безопасности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2999656" y="5355352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последовательности при оценке рисков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513B0D9-8CD7-4761-AE24-1523BE1F25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58" y="1306468"/>
            <a:ext cx="2338443" cy="383419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ED02F0-D233-4738-B227-70C3C647224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355" y="1306468"/>
            <a:ext cx="2685573" cy="38341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EB39F1-4846-4591-823D-D780D7274D2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461638"/>
            <a:ext cx="2414634" cy="35238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CCEBAF-E492-44C9-B034-BFDAC82ABBAF}"/>
              </a:ext>
            </a:extLst>
          </p:cNvPr>
          <p:cNvSpPr txBox="1"/>
          <p:nvPr/>
        </p:nvSpPr>
        <p:spPr bwMode="auto">
          <a:xfrm>
            <a:off x="6023992" y="5224002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коммуникации объектов мониторинга безопасности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AE43E9B-D890-4DC7-A6B0-194E0A63625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1686100"/>
            <a:ext cx="2559713" cy="32855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7AC2AE-A024-481F-8C2D-ED2FF93E61D9}"/>
              </a:ext>
            </a:extLst>
          </p:cNvPr>
          <p:cNvSpPr txBox="1"/>
          <p:nvPr/>
        </p:nvSpPr>
        <p:spPr bwMode="auto">
          <a:xfrm>
            <a:off x="8998652" y="5314995"/>
            <a:ext cx="2803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состояния уведомления о безопасности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6829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Создание </a:t>
            </a:r>
            <a:r>
              <a:rPr lang="ru-RU" sz="3200" b="1" dirty="0" err="1">
                <a:solidFill>
                  <a:schemeClr val="accent2"/>
                </a:solidFill>
              </a:rPr>
              <a:t>канбан</a:t>
            </a:r>
            <a:r>
              <a:rPr lang="ru-RU" sz="3200" b="1" dirty="0">
                <a:solidFill>
                  <a:schemeClr val="accent2"/>
                </a:solidFill>
              </a:rPr>
              <a:t>-доски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784B24-94FC-45F6-82A0-67B352CD03F9}"/>
              </a:ext>
            </a:extLst>
          </p:cNvPr>
          <p:cNvSpPr txBox="1"/>
          <p:nvPr/>
        </p:nvSpPr>
        <p:spPr>
          <a:xfrm>
            <a:off x="311486" y="1484784"/>
            <a:ext cx="5640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С помощью онлайн-сервиса </a:t>
            </a:r>
            <a:r>
              <a:rPr lang="ru-RU" b="1" dirty="0" err="1"/>
              <a:t>Shtab</a:t>
            </a:r>
            <a:r>
              <a:rPr lang="ru-RU" dirty="0"/>
              <a:t> была составлена </a:t>
            </a:r>
            <a:r>
              <a:rPr lang="ru-RU" dirty="0" err="1"/>
              <a:t>Канбан</a:t>
            </a:r>
            <a:r>
              <a:rPr lang="ru-RU" dirty="0"/>
              <a:t>-доска с первостепенными задачами.</a:t>
            </a:r>
          </a:p>
          <a:p>
            <a:r>
              <a:rPr lang="ru-RU" dirty="0"/>
              <a:t>	</a:t>
            </a:r>
            <a:r>
              <a:rPr lang="ru-RU" b="1" dirty="0"/>
              <a:t>Колонки</a:t>
            </a:r>
            <a:r>
              <a:rPr lang="ru-RU" dirty="0"/>
              <a:t>, каждая из которых отвечает за определённое состояние задачи на данном этапе: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Новые,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В процессе,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Готово,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Отложено.</a:t>
            </a:r>
          </a:p>
          <a:p>
            <a:r>
              <a:rPr lang="ru-RU" dirty="0"/>
              <a:t> 	Каждой задаче будет присвоен приоритет и назначен исполнитель или несколько исполнителей. В процессе работы над проектом задачи должны переходить из одной колонки в другую и помечаться как выполненные.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B6001A-2BBB-4A9B-AC6B-86E2995833A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988840"/>
            <a:ext cx="5940425" cy="27368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E3DA78-24D6-4942-9332-9399AE1CA730}"/>
              </a:ext>
            </a:extLst>
          </p:cNvPr>
          <p:cNvSpPr txBox="1"/>
          <p:nvPr/>
        </p:nvSpPr>
        <p:spPr bwMode="auto">
          <a:xfrm>
            <a:off x="7464152" y="4725690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Начало формирования </a:t>
            </a:r>
            <a:r>
              <a:rPr lang="ru-RU" sz="1600" dirty="0" err="1"/>
              <a:t>канбан</a:t>
            </a:r>
            <a:r>
              <a:rPr lang="ru-RU" sz="1600" dirty="0"/>
              <a:t>-доски</a:t>
            </a:r>
          </a:p>
        </p:txBody>
      </p:sp>
    </p:spTree>
    <p:extLst>
      <p:ext uri="{BB962C8B-B14F-4D97-AF65-F5344CB8AC3E}">
        <p14:creationId xmlns:p14="http://schemas.microsoft.com/office/powerpoint/2010/main" val="293392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5720" y="477376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Управление версиями: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Git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и ветки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1127448" y="2060848"/>
            <a:ext cx="4320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Git-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+mj-lt"/>
              </a:rPr>
              <a:t>репозиторий </a:t>
            </a:r>
            <a:r>
              <a:rPr lang="en-US" sz="2000" b="1" i="0" dirty="0" err="1">
                <a:solidFill>
                  <a:srgbClr val="0F1115"/>
                </a:solidFill>
                <a:effectLst/>
                <a:latin typeface="+mj-lt"/>
              </a:rPr>
              <a:t>CountryGuide</a:t>
            </a:r>
            <a:br>
              <a:rPr lang="en-US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Ветки: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main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стабильные версии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develop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общая разработка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 err="1">
                <a:solidFill>
                  <a:srgbClr val="0F1115"/>
                </a:solidFill>
                <a:effectLst/>
                <a:latin typeface="+mj-lt"/>
              </a:rPr>
              <a:t>developP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ветка разработчика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 err="1">
                <a:solidFill>
                  <a:srgbClr val="0F1115"/>
                </a:solidFill>
                <a:effectLst/>
                <a:latin typeface="+mj-lt"/>
              </a:rPr>
              <a:t>developA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ветка разработчика</a:t>
            </a:r>
            <a:endParaRPr lang="ru-RU" sz="2000" dirty="0">
              <a:latin typeface="+mj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0785C06-CD7D-45FB-881C-018C74CB5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1556792"/>
            <a:ext cx="5604122" cy="32403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E712A-4C1E-4DCD-A188-6355E8C60155}"/>
              </a:ext>
            </a:extLst>
          </p:cNvPr>
          <p:cNvSpPr txBox="1"/>
          <p:nvPr/>
        </p:nvSpPr>
        <p:spPr bwMode="auto">
          <a:xfrm>
            <a:off x="6816080" y="4725144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Репозизиторий</a:t>
            </a:r>
            <a:r>
              <a:rPr lang="ru-RU" dirty="0"/>
              <a:t> на</a:t>
            </a:r>
            <a:r>
              <a:rPr lang="en-US" dirty="0"/>
              <a:t> </a:t>
            </a:r>
            <a:r>
              <a:rPr lang="en-US" sz="1800" i="0" dirty="0" err="1">
                <a:solidFill>
                  <a:srgbClr val="0F1115"/>
                </a:solidFill>
                <a:effectLst/>
              </a:rPr>
              <a:t>CountryGuide</a:t>
            </a:r>
            <a:r>
              <a:rPr lang="ru-RU" dirty="0"/>
              <a:t> </a:t>
            </a:r>
            <a:r>
              <a:rPr lang="en-US" dirty="0" err="1"/>
              <a:t>githab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809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639615" y="90109"/>
            <a:ext cx="7992889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модуль с приложениями и статьями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716494" y="4891900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модуля со статьями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6312024" y="4941168"/>
            <a:ext cx="56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модуля с приложениями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47474A-7444-4127-B0F9-82B55C859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94" y="1694384"/>
            <a:ext cx="5478704" cy="319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E05C51-9C0F-417A-A02A-F5F417B15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61"/>
          <a:stretch/>
        </p:blipFill>
        <p:spPr bwMode="auto">
          <a:xfrm>
            <a:off x="6479683" y="1726751"/>
            <a:ext cx="5434276" cy="31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62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13764" y="90110"/>
            <a:ext cx="8352927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модуль с категориями  и фразами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703512" y="4972218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модуля с разговорником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176120" y="4593061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Реализация раздела с категориями фраз и фразами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41E61-46F3-4E30-9F7B-D528739F8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24"/>
          <a:stretch/>
        </p:blipFill>
        <p:spPr bwMode="auto">
          <a:xfrm>
            <a:off x="407368" y="1717779"/>
            <a:ext cx="5976664" cy="324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0D66641-215C-4ADB-A271-E0A7ABE3F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036" y="1717779"/>
            <a:ext cx="4769231" cy="285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66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</a:t>
            </a:r>
            <a:r>
              <a:rPr lang="en-US" sz="3200" b="1" dirty="0">
                <a:solidFill>
                  <a:schemeClr val="accent2"/>
                </a:solidFill>
              </a:rPr>
              <a:t>CRUD </a:t>
            </a:r>
            <a:r>
              <a:rPr lang="ru-RU" sz="3200" b="1" dirty="0">
                <a:solidFill>
                  <a:schemeClr val="accent2"/>
                </a:solidFill>
              </a:rPr>
              <a:t>управления данными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415480" y="5377811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Реализация части с редактированием фразы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176120" y="5413711"/>
            <a:ext cx="4223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части с добавлением страны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61E9F4-B032-4C0B-BC48-F3F983AF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705" y="1436374"/>
            <a:ext cx="3952875" cy="394335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87D4FB0-1A40-4CAE-91FD-E378D7A5C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558" y="1399715"/>
            <a:ext cx="3660338" cy="405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управление пользователями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847528" y="5375910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создание аккаунта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6744072" y="5339714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авторизации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27524C-6206-490E-9F37-ED91CE6F17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16080" y="1482090"/>
            <a:ext cx="4032448" cy="38576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6D63B07-9125-4FA7-8F0A-D0BC45ABB9ED}"/>
              </a:ext>
            </a:extLst>
          </p:cNvPr>
          <p:cNvPicPr/>
          <p:nvPr/>
        </p:nvPicPr>
        <p:blipFill rotWithShape="1">
          <a:blip r:embed="rId4"/>
          <a:srcRect l="1" r="2222"/>
          <a:stretch/>
        </p:blipFill>
        <p:spPr>
          <a:xfrm>
            <a:off x="1847528" y="1482090"/>
            <a:ext cx="3168352" cy="385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37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управление пользователями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839416" y="5170437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создание аккаунта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4223792" y="5714032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создания поездки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BE99D2-1A86-4BDC-A5B1-FE336785D08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1709416"/>
            <a:ext cx="4032448" cy="3402972"/>
          </a:xfrm>
          <a:prstGeom prst="rect">
            <a:avLst/>
          </a:prstGeom>
          <a:noFill/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F3ABF-0157-4A7F-ADEB-9362BCE80E7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87888" y="1237932"/>
            <a:ext cx="2414270" cy="43821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BB4851-C395-4A62-8002-5916A2F0584A}"/>
              </a:ext>
            </a:extLst>
          </p:cNvPr>
          <p:cNvSpPr txBox="1"/>
          <p:nvPr/>
        </p:nvSpPr>
        <p:spPr bwMode="auto">
          <a:xfrm>
            <a:off x="7824192" y="5858673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создания поездки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5E186C-1D64-43E0-B76F-23B24B886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90" y="1300229"/>
            <a:ext cx="3267252" cy="452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11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</a:t>
            </a:r>
            <a:r>
              <a:rPr lang="en-US" sz="3200" b="1" dirty="0">
                <a:solidFill>
                  <a:schemeClr val="accent2"/>
                </a:solidFill>
              </a:rPr>
              <a:t>CRUD </a:t>
            </a:r>
            <a:r>
              <a:rPr lang="ru-RU" sz="3200" b="1" dirty="0">
                <a:solidFill>
                  <a:schemeClr val="accent2"/>
                </a:solidFill>
              </a:rPr>
              <a:t>управления данными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631850" y="4787563"/>
            <a:ext cx="380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 списком стран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8008547" y="4787563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Модальное окно для подтверждения удаления страны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CCC53D-A5FD-4DFD-9A9C-DA38A99B6FD6}"/>
              </a:ext>
            </a:extLst>
          </p:cNvPr>
          <p:cNvPicPr/>
          <p:nvPr/>
        </p:nvPicPr>
        <p:blipFill rotWithShape="1">
          <a:blip r:embed="rId3"/>
          <a:srcRect l="14378" r="16522"/>
          <a:stretch/>
        </p:blipFill>
        <p:spPr bwMode="auto">
          <a:xfrm>
            <a:off x="551384" y="1844824"/>
            <a:ext cx="4104456" cy="287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8ED2CA-BE3C-462E-B9C9-F2D5BD6FB4B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52184" y="1867624"/>
            <a:ext cx="4265181" cy="28702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7B7E0F-B1C0-46EE-8054-73F8BB717BEE}"/>
              </a:ext>
            </a:extLst>
          </p:cNvPr>
          <p:cNvPicPr/>
          <p:nvPr/>
        </p:nvPicPr>
        <p:blipFill rotWithShape="1">
          <a:blip r:embed="rId5"/>
          <a:srcRect r="10145" b="9030"/>
          <a:stretch/>
        </p:blipFill>
        <p:spPr bwMode="auto">
          <a:xfrm>
            <a:off x="5053040" y="1704975"/>
            <a:ext cx="2376051" cy="31641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FCC755-AD55-40E6-9C43-1CAC52A317CD}"/>
              </a:ext>
            </a:extLst>
          </p:cNvPr>
          <p:cNvSpPr txBox="1"/>
          <p:nvPr/>
        </p:nvSpPr>
        <p:spPr bwMode="auto">
          <a:xfrm>
            <a:off x="4295800" y="4941699"/>
            <a:ext cx="380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создания страны</a:t>
            </a:r>
          </a:p>
        </p:txBody>
      </p:sp>
    </p:spTree>
    <p:extLst>
      <p:ext uri="{BB962C8B-B14F-4D97-AF65-F5344CB8AC3E}">
        <p14:creationId xmlns:p14="http://schemas.microsoft.com/office/powerpoint/2010/main" val="96165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риски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4D3996E-12D2-4487-AC82-CC7BD455F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34058"/>
              </p:ext>
            </p:extLst>
          </p:nvPr>
        </p:nvGraphicFramePr>
        <p:xfrm>
          <a:off x="695400" y="1212007"/>
          <a:ext cx="4339563" cy="4607939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446521">
                  <a:extLst>
                    <a:ext uri="{9D8B030D-6E8A-4147-A177-3AD203B41FA5}">
                      <a16:colId xmlns:a16="http://schemas.microsoft.com/office/drawing/2014/main" val="357774642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201458891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1445505700"/>
                    </a:ext>
                  </a:extLst>
                </a:gridCol>
              </a:tblGrid>
              <a:tr h="1765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Риск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Вероятность (%)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Степень ущерба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46883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Неполные требования ПО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70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481619"/>
                  </a:ext>
                </a:extLst>
              </a:tr>
              <a:tr h="1765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Ошибки в коде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60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703446"/>
                  </a:ext>
                </a:extLst>
              </a:tr>
              <a:tr h="57777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Нехватка квалифицированных специалистов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89051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Неправильное управление проектом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458720"/>
                  </a:ext>
                </a:extLst>
              </a:tr>
              <a:tr h="57777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Изменение требований в процессе разработки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707396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Устаревание технологий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30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Маленькая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40594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Ошибки и баги в существующем коде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56904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Нехватка документации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89953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Изменение требований к ПО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443951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Проблемы с совместимостью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94592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Проблемы с безопасностью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Высокая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96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244B94-0B6B-4D68-98B2-4FDFB9E7E6CB}"/>
              </a:ext>
            </a:extLst>
          </p:cNvPr>
          <p:cNvSpPr txBox="1"/>
          <p:nvPr/>
        </p:nvSpPr>
        <p:spPr>
          <a:xfrm>
            <a:off x="1430078" y="5813269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Риски из тестового плана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8040216" y="4211597"/>
            <a:ext cx="159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Этапы проекта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B148D76-5086-413F-8046-7239255CD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360227"/>
              </p:ext>
            </p:extLst>
          </p:nvPr>
        </p:nvGraphicFramePr>
        <p:xfrm>
          <a:off x="5591944" y="2276872"/>
          <a:ext cx="5941060" cy="193141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3062664">
                  <a:extLst>
                    <a:ext uri="{9D8B030D-6E8A-4147-A177-3AD203B41FA5}">
                      <a16:colId xmlns:a16="http://schemas.microsoft.com/office/drawing/2014/main" val="966786229"/>
                    </a:ext>
                  </a:extLst>
                </a:gridCol>
                <a:gridCol w="2878396">
                  <a:extLst>
                    <a:ext uri="{9D8B030D-6E8A-4147-A177-3AD203B41FA5}">
                      <a16:colId xmlns:a16="http://schemas.microsoft.com/office/drawing/2014/main" val="3097953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Этапы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Длительность (дни)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51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Сбор и анализ требований к ПО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18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Проектирование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58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Разработка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41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1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Запуск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6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Поддержка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Всё время, пока используется ПО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7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Обслуживание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Всё время, пока используется ПО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1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698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Тестирование: Тест-кейсы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5627947" y="5703259"/>
            <a:ext cx="1836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Часть тест-кейсов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1133A7F7-A93C-496A-89A4-7AE86BCF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20776"/>
              </p:ext>
            </p:extLst>
          </p:nvPr>
        </p:nvGraphicFramePr>
        <p:xfrm>
          <a:off x="3935760" y="1166019"/>
          <a:ext cx="4984929" cy="4525962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99789">
                  <a:extLst>
                    <a:ext uri="{9D8B030D-6E8A-4147-A177-3AD203B41FA5}">
                      <a16:colId xmlns:a16="http://schemas.microsoft.com/office/drawing/2014/main" val="2162661961"/>
                    </a:ext>
                  </a:extLst>
                </a:gridCol>
                <a:gridCol w="841757">
                  <a:extLst>
                    <a:ext uri="{9D8B030D-6E8A-4147-A177-3AD203B41FA5}">
                      <a16:colId xmlns:a16="http://schemas.microsoft.com/office/drawing/2014/main" val="954693386"/>
                    </a:ext>
                  </a:extLst>
                </a:gridCol>
                <a:gridCol w="1262102">
                  <a:extLst>
                    <a:ext uri="{9D8B030D-6E8A-4147-A177-3AD203B41FA5}">
                      <a16:colId xmlns:a16="http://schemas.microsoft.com/office/drawing/2014/main" val="3479278435"/>
                    </a:ext>
                  </a:extLst>
                </a:gridCol>
                <a:gridCol w="911103">
                  <a:extLst>
                    <a:ext uri="{9D8B030D-6E8A-4147-A177-3AD203B41FA5}">
                      <a16:colId xmlns:a16="http://schemas.microsoft.com/office/drawing/2014/main" val="4048093768"/>
                    </a:ext>
                  </a:extLst>
                </a:gridCol>
                <a:gridCol w="911103">
                  <a:extLst>
                    <a:ext uri="{9D8B030D-6E8A-4147-A177-3AD203B41FA5}">
                      <a16:colId xmlns:a16="http://schemas.microsoft.com/office/drawing/2014/main" val="2796423649"/>
                    </a:ext>
                  </a:extLst>
                </a:gridCol>
                <a:gridCol w="759075">
                  <a:extLst>
                    <a:ext uri="{9D8B030D-6E8A-4147-A177-3AD203B41FA5}">
                      <a16:colId xmlns:a16="http://schemas.microsoft.com/office/drawing/2014/main" val="1368125333"/>
                    </a:ext>
                  </a:extLst>
                </a:gridCol>
              </a:tblGrid>
              <a:tr h="66369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№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Тест-кейс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Шаги тест-кейса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</a:rPr>
                        <a:t>Фактический результат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Прохождение теста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563788"/>
                  </a:ext>
                </a:extLst>
              </a:tr>
              <a:tr h="2046354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Просмотр списка статей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1. Зайти на сайт. 2. Перейти в раздел "Статьи и приложения". 3. Выбрать страну из выпадающего списка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Отображаются статьи выбранной страны с названием (ссылка) и датой обновления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статьи выбранной страны с названием (ссылка) и датой обновления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Успешное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822570"/>
                  </a:ext>
                </a:extLst>
              </a:tr>
              <a:tr h="1815911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Просмотр списка приложений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1. Зайти на сайт. 2. Перейти в раздел "Статьи и приложения". 3. Выбрать страну из выпадающего списка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приложения выбранной страны с названием, описанием и логотипом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приложения выбранной страны с названием, описанием и логотипом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Успешное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28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643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</a:t>
            </a:r>
            <a:r>
              <a:rPr lang="en-US" sz="3200" b="1" dirty="0">
                <a:solidFill>
                  <a:schemeClr val="accent2"/>
                </a:solidFill>
              </a:rPr>
              <a:t>unit </a:t>
            </a:r>
            <a:r>
              <a:rPr lang="ru-RU" sz="3200" b="1" dirty="0">
                <a:solidFill>
                  <a:schemeClr val="accent2"/>
                </a:solidFill>
              </a:rPr>
              <a:t>тесты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BBAC7C-FC50-4E84-B2BF-5578292BA8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1140259"/>
            <a:ext cx="5267325" cy="431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CE501-63EC-4574-A739-0CF6889ACDCE}"/>
              </a:ext>
            </a:extLst>
          </p:cNvPr>
          <p:cNvSpPr txBox="1"/>
          <p:nvPr/>
        </p:nvSpPr>
        <p:spPr>
          <a:xfrm>
            <a:off x="5519936" y="5430183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Прохождение </a:t>
            </a:r>
            <a:r>
              <a:rPr lang="en-US" sz="1600" dirty="0"/>
              <a:t>unit-</a:t>
            </a:r>
            <a:r>
              <a:rPr lang="ru-RU" sz="1600" dirty="0"/>
              <a:t>тестов</a:t>
            </a:r>
          </a:p>
        </p:txBody>
      </p:sp>
    </p:spTree>
    <p:extLst>
      <p:ext uri="{BB962C8B-B14F-4D97-AF65-F5344CB8AC3E}">
        <p14:creationId xmlns:p14="http://schemas.microsoft.com/office/powerpoint/2010/main" val="1168746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риски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244B94-0B6B-4D68-98B2-4FDFB9E7E6CB}"/>
              </a:ext>
            </a:extLst>
          </p:cNvPr>
          <p:cNvSpPr txBox="1"/>
          <p:nvPr/>
        </p:nvSpPr>
        <p:spPr>
          <a:xfrm>
            <a:off x="7536160" y="5813269"/>
            <a:ext cx="3657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Тест-кейсы на проверку безопасность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67F95-C53B-4B70-A3FB-DAB9679BE939}"/>
              </a:ext>
            </a:extLst>
          </p:cNvPr>
          <p:cNvSpPr txBox="1"/>
          <p:nvPr/>
        </p:nvSpPr>
        <p:spPr bwMode="auto">
          <a:xfrm>
            <a:off x="2207568" y="5791038"/>
            <a:ext cx="3081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Тест-кейсы на адаптивность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946D487-86F3-40AA-A4BB-77325ACC0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79994"/>
              </p:ext>
            </p:extLst>
          </p:nvPr>
        </p:nvGraphicFramePr>
        <p:xfrm>
          <a:off x="839416" y="1287305"/>
          <a:ext cx="5256584" cy="452596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148672">
                  <a:extLst>
                    <a:ext uri="{9D8B030D-6E8A-4147-A177-3AD203B41FA5}">
                      <a16:colId xmlns:a16="http://schemas.microsoft.com/office/drawing/2014/main" val="665464659"/>
                    </a:ext>
                  </a:extLst>
                </a:gridCol>
                <a:gridCol w="2456462">
                  <a:extLst>
                    <a:ext uri="{9D8B030D-6E8A-4147-A177-3AD203B41FA5}">
                      <a16:colId xmlns:a16="http://schemas.microsoft.com/office/drawing/2014/main" val="227779063"/>
                    </a:ext>
                  </a:extLst>
                </a:gridCol>
                <a:gridCol w="1651450">
                  <a:extLst>
                    <a:ext uri="{9D8B030D-6E8A-4147-A177-3AD203B41FA5}">
                      <a16:colId xmlns:a16="http://schemas.microsoft.com/office/drawing/2014/main" val="1586151674"/>
                    </a:ext>
                  </a:extLst>
                </a:gridCol>
              </a:tblGrid>
              <a:tr h="25294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Тест-кейс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Шаги тест кейса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75019"/>
                  </a:ext>
                </a:extLst>
              </a:tr>
              <a:tr h="213650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Отображение страниц сайта на устройстве </a:t>
                      </a:r>
                      <a:r>
                        <a:rPr lang="en-US" sz="1200">
                          <a:effectLst/>
                        </a:rPr>
                        <a:t>iPhone</a:t>
                      </a:r>
                      <a:r>
                        <a:rPr lang="ru-RU" sz="1200">
                          <a:effectLst/>
                        </a:rPr>
                        <a:t> 12 </a:t>
                      </a:r>
                      <a:r>
                        <a:rPr lang="en-US" sz="1200">
                          <a:effectLst/>
                        </a:rPr>
                        <a:t>Pro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браузер настроить отображение на iPhone 12 Pro.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Ввести адрес сайта. 3. Дождаться полной загрузки страницы.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4. Проверить отображение заголовка, текста с цитатой и кнопки «Начать путешествие». 5. Проверить работу навигационного меню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Все элементы главной страницы отображаются корректно, текст читаем без горизонтальной прокрутки, кнопка имеет достаточный размер для нажатия пальцем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460163"/>
                  </a:ext>
                </a:extLst>
              </a:tr>
              <a:tr h="213650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Отображение страниц сайта на устройстве </a:t>
                      </a:r>
                      <a:r>
                        <a:rPr lang="en-US" sz="1200">
                          <a:effectLst/>
                        </a:rPr>
                        <a:t>Samsung Galaxy S</a:t>
                      </a:r>
                      <a:r>
                        <a:rPr lang="ru-RU" sz="1200">
                          <a:effectLst/>
                        </a:rPr>
                        <a:t>8+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браузер настроить отображение на </a:t>
                      </a:r>
                      <a:r>
                        <a:rPr lang="en-US" sz="1200">
                          <a:effectLst/>
                        </a:rPr>
                        <a:t>Galaxy S</a:t>
                      </a:r>
                      <a:r>
                        <a:rPr lang="ru-RU" sz="1200">
                          <a:effectLst/>
                        </a:rPr>
                        <a:t>8+.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Ввести адрес сайта. 3. Дождаться полной загрузки страницы.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4. Проверить отображение заголовка, текста с цитатой и кнопки «Начать путешествие». 5. Проверить работу навигационного меню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Все элементы главной страницы отображаются корректно, текст читаем без горизонтальной прокрутки, кнопка имеет достаточный размер для нажатия пальцем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820555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0D3D2D7-4438-4C98-BA1A-0476D845D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2122"/>
              </p:ext>
            </p:extLst>
          </p:nvPr>
        </p:nvGraphicFramePr>
        <p:xfrm>
          <a:off x="6672064" y="1279294"/>
          <a:ext cx="4796663" cy="458448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216988">
                  <a:extLst>
                    <a:ext uri="{9D8B030D-6E8A-4147-A177-3AD203B41FA5}">
                      <a16:colId xmlns:a16="http://schemas.microsoft.com/office/drawing/2014/main" val="169651318"/>
                    </a:ext>
                  </a:extLst>
                </a:gridCol>
                <a:gridCol w="2140585">
                  <a:extLst>
                    <a:ext uri="{9D8B030D-6E8A-4147-A177-3AD203B41FA5}">
                      <a16:colId xmlns:a16="http://schemas.microsoft.com/office/drawing/2014/main" val="2108212654"/>
                    </a:ext>
                  </a:extLst>
                </a:gridCol>
                <a:gridCol w="1439090">
                  <a:extLst>
                    <a:ext uri="{9D8B030D-6E8A-4147-A177-3AD203B41FA5}">
                      <a16:colId xmlns:a16="http://schemas.microsoft.com/office/drawing/2014/main" val="1970270309"/>
                    </a:ext>
                  </a:extLst>
                </a:gridCol>
              </a:tblGrid>
              <a:tr h="31875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Тест-кейс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Шаги тест кейса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491813"/>
                  </a:ext>
                </a:extLst>
              </a:tr>
              <a:tr h="159622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Регистрация нового пользователя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страницу регистрации.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Заполнить все поля формы (email, пароль, имя, фамилия, телефон). (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maria@gmail.com</a:t>
                      </a:r>
                      <a:r>
                        <a:rPr lang="ru-RU" sz="1200">
                          <a:effectLst/>
                        </a:rPr>
                        <a:t>, </a:t>
                      </a:r>
                      <a:r>
                        <a:rPr lang="en-US" sz="1200">
                          <a:effectLst/>
                        </a:rPr>
                        <a:t>123qwet. </a:t>
                      </a:r>
                      <a:r>
                        <a:rPr lang="ru-RU" sz="1200">
                          <a:effectLst/>
                        </a:rPr>
                        <a:t>, Перевезенцева, 88005553535)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3. Нажать кнопку «Зарегистрироваться».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Пользователь успешно создан, выполнено перенаправление на страницу входа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171727"/>
                  </a:ext>
                </a:extLst>
              </a:tr>
              <a:tr h="122443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Регистрация с существующим email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Попытаться зарегистрироваться с email (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maria</a:t>
                      </a:r>
                      <a:r>
                        <a:rPr lang="ru-RU" sz="1200" u="sng">
                          <a:effectLst/>
                          <a:hlinkClick r:id="rId3"/>
                        </a:rPr>
                        <a:t>@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gmail</a:t>
                      </a:r>
                      <a:r>
                        <a:rPr lang="ru-RU" sz="1200" u="sng">
                          <a:effectLst/>
                          <a:hlinkClick r:id="rId3"/>
                        </a:rPr>
                        <a:t>.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com</a:t>
                      </a:r>
                      <a:r>
                        <a:rPr lang="ru-RU" sz="1200">
                          <a:effectLst/>
                        </a:rPr>
                        <a:t>), который уже зарегистрирован в системе.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Нажать кнопку «Зарегистрироваться».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Появляется сообщение об ошибке, регистрация не выполняется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463374"/>
                  </a:ext>
                </a:extLst>
              </a:tr>
              <a:tr h="134836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Вход в систему с правильными данными (обычный пользователь)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страницу входа.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Ввести email и пароль зарегистрированного обычного пользователя. (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maria@gmail.com</a:t>
                      </a:r>
                      <a:r>
                        <a:rPr lang="ru-RU" sz="1200">
                          <a:effectLst/>
                        </a:rPr>
                        <a:t>, </a:t>
                      </a:r>
                      <a:r>
                        <a:rPr lang="en-US" sz="1200">
                          <a:effectLst/>
                        </a:rPr>
                        <a:t>123qwet</a:t>
                      </a:r>
                      <a:r>
                        <a:rPr lang="ru-RU" sz="1200">
                          <a:effectLst/>
                        </a:rPr>
                        <a:t>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3. Нажать кнопку «Войти».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Выполнен успешный вход, пользователь перенаправлен на главную страницу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90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934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Тестирование: Тест-кейсы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3791744" y="5349240"/>
            <a:ext cx="5472608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Тест-кейсы на работу с поездкой и бюджетом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FD54461-6D97-4191-B86E-951745D49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96284"/>
              </p:ext>
            </p:extLst>
          </p:nvPr>
        </p:nvGraphicFramePr>
        <p:xfrm>
          <a:off x="2063552" y="1508760"/>
          <a:ext cx="8640959" cy="384048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651031">
                  <a:extLst>
                    <a:ext uri="{9D8B030D-6E8A-4147-A177-3AD203B41FA5}">
                      <a16:colId xmlns:a16="http://schemas.microsoft.com/office/drawing/2014/main" val="3683437579"/>
                    </a:ext>
                  </a:extLst>
                </a:gridCol>
                <a:gridCol w="1128209">
                  <a:extLst>
                    <a:ext uri="{9D8B030D-6E8A-4147-A177-3AD203B41FA5}">
                      <a16:colId xmlns:a16="http://schemas.microsoft.com/office/drawing/2014/main" val="2344476825"/>
                    </a:ext>
                  </a:extLst>
                </a:gridCol>
                <a:gridCol w="2412697">
                  <a:extLst>
                    <a:ext uri="{9D8B030D-6E8A-4147-A177-3AD203B41FA5}">
                      <a16:colId xmlns:a16="http://schemas.microsoft.com/office/drawing/2014/main" val="2461224100"/>
                    </a:ext>
                  </a:extLst>
                </a:gridCol>
                <a:gridCol w="1622028">
                  <a:extLst>
                    <a:ext uri="{9D8B030D-6E8A-4147-A177-3AD203B41FA5}">
                      <a16:colId xmlns:a16="http://schemas.microsoft.com/office/drawing/2014/main" val="3218647210"/>
                    </a:ext>
                  </a:extLst>
                </a:gridCol>
                <a:gridCol w="1388067">
                  <a:extLst>
                    <a:ext uri="{9D8B030D-6E8A-4147-A177-3AD203B41FA5}">
                      <a16:colId xmlns:a16="http://schemas.microsoft.com/office/drawing/2014/main" val="4281118809"/>
                    </a:ext>
                  </a:extLst>
                </a:gridCol>
                <a:gridCol w="1438927">
                  <a:extLst>
                    <a:ext uri="{9D8B030D-6E8A-4147-A177-3AD203B41FA5}">
                      <a16:colId xmlns:a16="http://schemas.microsoft.com/office/drawing/2014/main" val="152217907"/>
                    </a:ext>
                  </a:extLst>
                </a:gridCol>
              </a:tblGrid>
              <a:tr h="248193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№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Тест-кейс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Шаги тест кейса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Фактический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Прохождение теста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329204"/>
                  </a:ext>
                </a:extLst>
              </a:tr>
              <a:tr h="1971701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Создание поездки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1. Авторизоваться в системе.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2. Перейти на страницу создания поездки.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3. Выбрать страну из выпадающего списка (Мексика)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4. Выбрать дату начала поездки (01.06.2026)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5. Выбрать дату окончания поездки (06.06.2026)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6. Ввести общий бюджет (90000)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7. Ввести дневной лимит. (9000)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8. Нажать кнопку «Создать поездку»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Поездка успешно создана, выполнено перенаправление на страницу бюджета, отображаются общий бюджет, потрачено (0) и остаток (равен бюджету)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Совпадает с ожидаемым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Пройден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170175"/>
                  </a:ext>
                </a:extLst>
              </a:tr>
              <a:tr h="1023771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Создание поездки с пустыми полями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1. Авторизоваться в системе.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2. Перейти на страницу создания поездки.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3. Не заполнять обязательные поля (страна, даты, бюджет).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4. Нажать «Создать поездку»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Появляются сообщения об ошибках валидации, поездка не создаётся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Совпадает с ожидаемым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Пройден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60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236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</a:t>
            </a:r>
            <a:r>
              <a:rPr lang="en-US" sz="3200" b="1" dirty="0">
                <a:solidFill>
                  <a:schemeClr val="accent2"/>
                </a:solidFill>
              </a:rPr>
              <a:t>unit </a:t>
            </a:r>
            <a:r>
              <a:rPr lang="ru-RU" sz="3200" b="1" dirty="0">
                <a:solidFill>
                  <a:schemeClr val="accent2"/>
                </a:solidFill>
              </a:rPr>
              <a:t>тесты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CE501-63EC-4574-A739-0CF6889ACDCE}"/>
              </a:ext>
            </a:extLst>
          </p:cNvPr>
          <p:cNvSpPr txBox="1"/>
          <p:nvPr/>
        </p:nvSpPr>
        <p:spPr>
          <a:xfrm>
            <a:off x="7968208" y="4215525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Прохождение </a:t>
            </a:r>
            <a:r>
              <a:rPr lang="en-US" sz="1600" dirty="0"/>
              <a:t>unit-</a:t>
            </a:r>
            <a:r>
              <a:rPr lang="ru-RU" sz="1600" dirty="0"/>
              <a:t>тестов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F4FA-138B-4B5A-A069-B08325575D2E}"/>
              </a:ext>
            </a:extLst>
          </p:cNvPr>
          <p:cNvSpPr txBox="1"/>
          <p:nvPr/>
        </p:nvSpPr>
        <p:spPr>
          <a:xfrm>
            <a:off x="-240704" y="2204864"/>
            <a:ext cx="63367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DD00A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058B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test_country_list_view_contains_countries</a:t>
            </a: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74E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ru-RU" sz="1200" dirty="0">
                <a:solidFill>
                  <a:srgbClr val="0074E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response =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.client.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(reverse(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 err="1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guides:country_list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assertEqual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response.status_code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Мексика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Бразилия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Япония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Марокко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Австралия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615C00-9B4F-41B0-922C-DF71E53B1C0D}"/>
              </a:ext>
            </a:extLst>
          </p:cNvPr>
          <p:cNvPicPr/>
          <p:nvPr/>
        </p:nvPicPr>
        <p:blipFill rotWithShape="1">
          <a:blip r:embed="rId3"/>
          <a:srcRect r="3016"/>
          <a:stretch/>
        </p:blipFill>
        <p:spPr>
          <a:xfrm>
            <a:off x="6023992" y="2132856"/>
            <a:ext cx="5760640" cy="19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52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30168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Итоги работы: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Канбан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-доска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0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1415480" y="1757657"/>
            <a:ext cx="50405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Выполнено: </a:t>
            </a:r>
            <a:r>
              <a:rPr lang="ru-RU" sz="2000" dirty="0"/>
              <a:t>29 задач</a:t>
            </a:r>
          </a:p>
          <a:p>
            <a:r>
              <a:rPr lang="ru-RU" sz="2000" b="1" dirty="0"/>
              <a:t>Отложено: </a:t>
            </a:r>
            <a:r>
              <a:rPr lang="ru-RU" sz="2000" dirty="0"/>
              <a:t>2 задачи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</a:rPr>
              <a:t>Основные задачи:</a:t>
            </a:r>
            <a:endParaRPr lang="ru-RU" sz="2000" b="0" i="0" dirty="0">
              <a:solidFill>
                <a:srgbClr val="0F1115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Формирование команды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>
                <a:solidFill>
                  <a:srgbClr val="0F1115"/>
                </a:solidFill>
                <a:effectLst/>
              </a:rPr>
              <a:t> Составление Концепция проекта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>
                <a:solidFill>
                  <a:srgbClr val="0F1115"/>
                </a:solidFill>
                <a:effectLst/>
              </a:rPr>
              <a:t>Плановая документация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F1115"/>
                </a:solidFill>
                <a:effectLst/>
              </a:rPr>
              <a:t>UML-</a:t>
            </a:r>
            <a:r>
              <a:rPr lang="ru-RU" sz="2000" i="0" dirty="0">
                <a:solidFill>
                  <a:srgbClr val="0F1115"/>
                </a:solidFill>
                <a:effectLst/>
              </a:rPr>
              <a:t>диаграммы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Реализация системы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Тестовая документация</a:t>
            </a:r>
          </a:p>
          <a:p>
            <a:pPr algn="l"/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FC703-E201-4274-8FFB-CA0A3F2B9C64}"/>
              </a:ext>
            </a:extLst>
          </p:cNvPr>
          <p:cNvSpPr txBox="1"/>
          <p:nvPr/>
        </p:nvSpPr>
        <p:spPr bwMode="auto">
          <a:xfrm>
            <a:off x="6888088" y="4941168"/>
            <a:ext cx="3647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Итоговое состояние </a:t>
            </a:r>
            <a:r>
              <a:rPr lang="ru-RU" dirty="0" err="1"/>
              <a:t>канбан</a:t>
            </a:r>
            <a:r>
              <a:rPr lang="ru-RU" dirty="0"/>
              <a:t> доски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FFBCE3-9EEB-4E12-ACE8-E782C2085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1279594"/>
            <a:ext cx="6768752" cy="359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70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30168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Задача Джонсона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59420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335360" y="1412776"/>
            <a:ext cx="597666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</a:rPr>
              <a:t>Алгоритм Джонсона решает задачу минимизации общего времени обработки n деталей на двух станках. Идея: разделить все задачи на две группы: в группу A попадают задачи, у которых время на первом станке меньше, чем на втором, в группу B — остальные. Затем группа A сортируется по возрастанию , а группа B — по убыванию.</a:t>
            </a:r>
          </a:p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</a:rPr>
              <a:t>В приведённой реализации на C# метод </a:t>
            </a:r>
            <a:r>
              <a:rPr lang="ru-RU" sz="2000" b="0" i="0" dirty="0" err="1">
                <a:solidFill>
                  <a:srgbClr val="0F1115"/>
                </a:solidFill>
                <a:effectLst/>
              </a:rPr>
              <a:t>Solve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() выполняет разделение и сортировку, возвращая массив индексов задач в оптимальном порядке. Метод </a:t>
            </a:r>
            <a:r>
              <a:rPr lang="ru-RU" sz="2000" b="0" i="0" dirty="0" err="1">
                <a:solidFill>
                  <a:srgbClr val="0F1115"/>
                </a:solidFill>
                <a:effectLst/>
              </a:rPr>
              <a:t>PrintResult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() моделирует работу станков: для каждой задачи по очереди вычисляется время начала и окончания обработки на станках.</a:t>
            </a:r>
          </a:p>
          <a:p>
            <a:pPr algn="l"/>
            <a:endParaRPr lang="ru-RU" b="0" i="0" dirty="0">
              <a:solidFill>
                <a:srgbClr val="0F1115"/>
              </a:solidFill>
              <a:effectLst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FC703-E201-4274-8FFB-CA0A3F2B9C64}"/>
              </a:ext>
            </a:extLst>
          </p:cNvPr>
          <p:cNvSpPr txBox="1"/>
          <p:nvPr/>
        </p:nvSpPr>
        <p:spPr bwMode="auto">
          <a:xfrm>
            <a:off x="8040216" y="515719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Решение задачи Джонсона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454650-6C36-44AB-B979-0692B2D71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1916832"/>
            <a:ext cx="4663844" cy="327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23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30168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Код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Прюфера</a:t>
            </a:r>
            <a:endParaRPr lang="ru-RU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59420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479376" y="5080119"/>
            <a:ext cx="11521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Прямая задача: по заданному дереву построить его код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Прюфера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Обратная задача: по коду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Прюфера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восстановить исходное дерево (список рёбер). Алгоритм основан на свойствах листьев и позволяет эффективно кодировать деревья для передачи или хранения.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FC703-E201-4274-8FFB-CA0A3F2B9C64}"/>
              </a:ext>
            </a:extLst>
          </p:cNvPr>
          <p:cNvSpPr txBox="1"/>
          <p:nvPr/>
        </p:nvSpPr>
        <p:spPr bwMode="auto">
          <a:xfrm>
            <a:off x="1588733" y="437744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Составление кода </a:t>
            </a:r>
            <a:r>
              <a:rPr lang="ru-RU" dirty="0" err="1"/>
              <a:t>Прюфера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14CF97-AF7B-44C3-944C-966978E5C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1164034"/>
            <a:ext cx="4285859" cy="32616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7F6E09-D0CD-4887-90E3-CE80DFD2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209" y="993051"/>
            <a:ext cx="4511431" cy="368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5D5E50-5388-439F-B83A-FA1422795966}"/>
              </a:ext>
            </a:extLst>
          </p:cNvPr>
          <p:cNvSpPr txBox="1"/>
          <p:nvPr/>
        </p:nvSpPr>
        <p:spPr bwMode="auto">
          <a:xfrm>
            <a:off x="8046484" y="4663167"/>
            <a:ext cx="344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Восстановление кода </a:t>
            </a:r>
            <a:r>
              <a:rPr lang="ru-RU" dirty="0" err="1"/>
              <a:t>Прюфера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9148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53562" y="90110"/>
            <a:ext cx="8064896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Заключение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779DF-D361-4752-AF56-DB1EA51D7662}"/>
              </a:ext>
            </a:extLst>
          </p:cNvPr>
          <p:cNvSpPr txBox="1"/>
          <p:nvPr/>
        </p:nvSpPr>
        <p:spPr bwMode="auto">
          <a:xfrm>
            <a:off x="2063552" y="1628800"/>
            <a:ext cx="8244916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/>
            <a:r>
              <a:rPr lang="ru-RU" dirty="0"/>
              <a:t>Входе прохождения учебной практики были закреплены теоретические знания и приобретены практические навыки в области проектирования</a:t>
            </a:r>
            <a:r>
              <a:rPr lang="ru-RU"/>
              <a:t>, алгоритмизации, </a:t>
            </a:r>
            <a:r>
              <a:rPr lang="ru-RU" dirty="0"/>
              <a:t>разработки информационных систем, интеграции с хранилищем данных и использовании системы контроля версий при командной работе.</a:t>
            </a:r>
          </a:p>
          <a:p>
            <a:pPr indent="449263" algn="just"/>
            <a:r>
              <a:rPr lang="ru-RU" dirty="0"/>
              <a:t>Были последовательно изучены принципы формирования и организации команды, распределение ролей, проектирования информационных систем, алгоритмизации математических задач, командной разработки, тестирования и составления документации.</a:t>
            </a:r>
          </a:p>
          <a:p>
            <a:pPr indent="449263" algn="just"/>
            <a:r>
              <a:rPr lang="ru-RU" dirty="0"/>
              <a:t>В результате работы создан полностью функционирующий модуль контентного наполнения, интегрированный с общей системой. </a:t>
            </a:r>
          </a:p>
          <a:p>
            <a:pPr indent="449263" algn="just">
              <a:lnSpc>
                <a:spcPct val="150000"/>
              </a:lnSpc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61356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ругая 1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1789</TotalTime>
  <Words>1685</Words>
  <Application>Microsoft Office PowerPoint</Application>
  <DocSecurity>0</DocSecurity>
  <PresentationFormat>Широкоэкранный</PresentationFormat>
  <Paragraphs>253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Consolas</vt:lpstr>
      <vt:lpstr>quote-cjk-patch</vt:lpstr>
      <vt:lpstr>Times New Roman</vt:lpstr>
      <vt:lpstr>Тема Office</vt:lpstr>
      <vt:lpstr>ПМ.02 Осуществление интеграции программных модулей </vt:lpstr>
      <vt:lpstr>Цель и задачи</vt:lpstr>
      <vt:lpstr>Концепция информационной системы</vt:lpstr>
      <vt:lpstr>Архитектура системы</vt:lpstr>
      <vt:lpstr>Презентация PowerPoint</vt:lpstr>
      <vt:lpstr>Презентация PowerPoint</vt:lpstr>
      <vt:lpstr>Плановая документация и разработка UML-диаграмм</vt:lpstr>
      <vt:lpstr>Плановая документация и разработка UML-диаграмм</vt:lpstr>
      <vt:lpstr>Создание канбан-доски</vt:lpstr>
      <vt:lpstr>Управление версиями: Git и ветки</vt:lpstr>
      <vt:lpstr>Реализация системы: модуль с приложениями и статьями</vt:lpstr>
      <vt:lpstr>Реализация системы: модуль с категориями  и фразами</vt:lpstr>
      <vt:lpstr>Реализация системы: CRUD управления данными</vt:lpstr>
      <vt:lpstr>Реализация системы: управление пользователями</vt:lpstr>
      <vt:lpstr>Реализация системы: управление пользователями</vt:lpstr>
      <vt:lpstr>Реализация системы: CRUD управления данными</vt:lpstr>
      <vt:lpstr>Тестирование риски</vt:lpstr>
      <vt:lpstr>Тестирование: Тест-кейсы</vt:lpstr>
      <vt:lpstr>Тестирование unit тесты</vt:lpstr>
      <vt:lpstr>Тестирование риски</vt:lpstr>
      <vt:lpstr>Тестирование: Тест-кейсы</vt:lpstr>
      <vt:lpstr>Тестирование unit тесты</vt:lpstr>
      <vt:lpstr>Итоги работы: Канбан-доска</vt:lpstr>
      <vt:lpstr>Задача Джонсона</vt:lpstr>
      <vt:lpstr>Код Прюфера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cp:lastModifiedBy>Арина Александрова</cp:lastModifiedBy>
  <cp:revision>210</cp:revision>
  <dcterms:created xsi:type="dcterms:W3CDTF">2019-05-16T05:43:42Z</dcterms:created>
  <dcterms:modified xsi:type="dcterms:W3CDTF">2026-06-03T11:38:38Z</dcterms:modified>
  <cp:category/>
  <dc:identifier/>
  <cp:contentStatus/>
  <dc:language/>
  <cp:version/>
</cp:coreProperties>
</file>