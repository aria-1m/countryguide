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90" r:id="rId3"/>
    <p:sldId id="291" r:id="rId4"/>
    <p:sldId id="292" r:id="rId5"/>
    <p:sldId id="306" r:id="rId6"/>
    <p:sldId id="307" r:id="rId7"/>
    <p:sldId id="293" r:id="rId8"/>
    <p:sldId id="308" r:id="rId9"/>
    <p:sldId id="310" r:id="rId10"/>
    <p:sldId id="296" r:id="rId11"/>
    <p:sldId id="309" r:id="rId12"/>
    <p:sldId id="294" r:id="rId13"/>
    <p:sldId id="303" r:id="rId14"/>
  </p:sldIdLst>
  <p:sldSz cx="12192000" cy="6858000"/>
  <p:notesSz cx="9144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Сергей Лядов" initials="СЛ" lastIdx="2" clrIdx="0">
    <p:extLst>
      <p:ext uri="{19B8F6BF-5375-455C-9EA6-DF929625EA0E}">
        <p15:presenceInfo xmlns:p15="http://schemas.microsoft.com/office/powerpoint/2012/main" userId="8b89faf75465287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2D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D414673-6291-E95B-8A48-E9062BF18BBB}">
  <a:tblStyle styleId="{7D414673-6291-E95B-8A48-E9062BF18BBB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340" autoAdjust="0"/>
  </p:normalViewPr>
  <p:slideViewPr>
    <p:cSldViewPr>
      <p:cViewPr varScale="1">
        <p:scale>
          <a:sx n="114" d="100"/>
          <a:sy n="114" d="100"/>
        </p:scale>
        <p:origin x="438" y="1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914400" y="2130426"/>
            <a:ext cx="10363200" cy="1470025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828800" y="3886201"/>
            <a:ext cx="85344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02.06.2026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02.06.2026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02.06.2026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02.06.2026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02.06.2026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02.06.2026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02.06.2026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02.06.2026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02.06.2026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02.06.2026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839200" y="274639"/>
            <a:ext cx="2743200" cy="5851525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609600" y="274639"/>
            <a:ext cx="8026400" cy="5851525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02.06.2026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22162C4-37D7-4349-9C5B-6674379EBFE0}" type="datetimeFigureOut">
              <a:rPr lang="ru-RU"/>
              <a:t>02.06.2026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551384" y="279076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 bwMode="auto">
          <a:xfrm>
            <a:off x="551384" y="313296"/>
            <a:ext cx="11640616" cy="634082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Цель и задачи</a:t>
            </a:r>
            <a:endParaRPr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D0F273-80C0-4E9A-900D-D5CC33AACC41}"/>
              </a:ext>
            </a:extLst>
          </p:cNvPr>
          <p:cNvSpPr txBox="1"/>
          <p:nvPr/>
        </p:nvSpPr>
        <p:spPr>
          <a:xfrm>
            <a:off x="1415480" y="1870165"/>
            <a:ext cx="9361040" cy="2951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49263" algn="just">
              <a:lnSpc>
                <a:spcPct val="150000"/>
              </a:lnSpc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Целью практики являлось закрепление теоретических знаний и приобретение практических навыков в области проектирования, разработки информационных систем, интеграции с хранилищем данных и использования системы контроля версий при командной работе.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263" algn="just">
              <a:lnSpc>
                <a:spcPct val="150000"/>
              </a:lnSpc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процессе практики были последовательно решены следующие задачи: изучены принципы формирования и организации команды, распределение ролей, проектирования информационных систем, командной разработки, тестирования и составления документации.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B20C35-BC62-45C1-990E-BC75850753E9}"/>
              </a:ext>
            </a:extLst>
          </p:cNvPr>
          <p:cNvSpPr txBox="1"/>
          <p:nvPr/>
        </p:nvSpPr>
        <p:spPr>
          <a:xfrm>
            <a:off x="9912424" y="947378"/>
            <a:ext cx="936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Сл</a:t>
            </a:r>
            <a:r>
              <a:rPr lang="ru-RU" dirty="0"/>
              <a:t> 2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775520" y="90109"/>
            <a:ext cx="10297143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Концепция информационной системы</a:t>
            </a:r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13DD22-38EE-4FA8-8C51-53A8492A9A5C}"/>
              </a:ext>
            </a:extLst>
          </p:cNvPr>
          <p:cNvSpPr txBox="1"/>
          <p:nvPr/>
        </p:nvSpPr>
        <p:spPr>
          <a:xfrm>
            <a:off x="9696400" y="155679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Сл</a:t>
            </a:r>
            <a:r>
              <a:rPr lang="ru-RU" dirty="0"/>
              <a:t> 3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2C263FB-1AB2-49A5-99A8-69D9AE54C7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785" y="2716310"/>
            <a:ext cx="1663786" cy="15431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E2BB363-23D9-47F0-BBF2-EE0D0FE138E6}"/>
              </a:ext>
            </a:extLst>
          </p:cNvPr>
          <p:cNvSpPr txBox="1"/>
          <p:nvPr/>
        </p:nvSpPr>
        <p:spPr>
          <a:xfrm>
            <a:off x="9580785" y="4437112"/>
            <a:ext cx="16637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Логотип «Гид по странам»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1028C8-3450-41EC-A175-7CA0CA1B558C}"/>
              </a:ext>
            </a:extLst>
          </p:cNvPr>
          <p:cNvSpPr txBox="1"/>
          <p:nvPr/>
        </p:nvSpPr>
        <p:spPr>
          <a:xfrm>
            <a:off x="831814" y="1218326"/>
            <a:ext cx="792088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  <a:p>
            <a:r>
              <a:rPr lang="ru-RU" dirty="0"/>
              <a:t>	«Гид по странам» — это веб-приложение-гид для путешественников, объединяющее функции финансового планирования, управления расходами и справочной информацией о странах. Приложение помогает туристам подготовиться к поездке, контролировать бюджет в реальном времени и получать актуальную информацию о стране пребывания: полезные фразы на местном языке, рекомендации локальных приложений (карты, такси, переводчики, доставка еды), а также статьи с важными правилами и рекомендациями.</a:t>
            </a:r>
          </a:p>
          <a:p>
            <a:endParaRPr lang="ru-RU" dirty="0"/>
          </a:p>
          <a:p>
            <a:r>
              <a:rPr lang="ru-RU" dirty="0"/>
              <a:t>	Основная проблема, которую решает приложение, — разрозненность информации при подготовке к поездке. Туристу приходится искать курсы валют, скачивать несколько приложений, изучать фразы на разных сайтах, вести учёт расходов в заметках или Excel. «Гид по странам» собирает всю необходимую информацию в одном месте и добавляет автоматизацию финансового контроля.</a:t>
            </a:r>
          </a:p>
        </p:txBody>
      </p:sp>
    </p:spTree>
    <p:extLst>
      <p:ext uri="{BB962C8B-B14F-4D97-AF65-F5344CB8AC3E}">
        <p14:creationId xmlns:p14="http://schemas.microsoft.com/office/powerpoint/2010/main" val="186139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775520" y="90109"/>
            <a:ext cx="10297143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Создание </a:t>
            </a:r>
            <a:r>
              <a:rPr lang="ru-RU" sz="3200" b="1" dirty="0" err="1">
                <a:solidFill>
                  <a:schemeClr val="accent2"/>
                </a:solidFill>
              </a:rPr>
              <a:t>канбан</a:t>
            </a:r>
            <a:r>
              <a:rPr lang="ru-RU" sz="3200" b="1" dirty="0">
                <a:solidFill>
                  <a:schemeClr val="accent2"/>
                </a:solidFill>
              </a:rPr>
              <a:t>-доски</a:t>
            </a:r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784B24-94FC-45F6-82A0-67B352CD03F9}"/>
              </a:ext>
            </a:extLst>
          </p:cNvPr>
          <p:cNvSpPr txBox="1"/>
          <p:nvPr/>
        </p:nvSpPr>
        <p:spPr>
          <a:xfrm>
            <a:off x="311486" y="1484784"/>
            <a:ext cx="564049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	С помощью онлайн-сервиса </a:t>
            </a:r>
            <a:r>
              <a:rPr lang="ru-RU" dirty="0" err="1"/>
              <a:t>Shtab</a:t>
            </a:r>
            <a:r>
              <a:rPr lang="ru-RU" dirty="0"/>
              <a:t> была составлена </a:t>
            </a:r>
            <a:r>
              <a:rPr lang="ru-RU" dirty="0" err="1"/>
              <a:t>Канбан</a:t>
            </a:r>
            <a:r>
              <a:rPr lang="ru-RU" dirty="0"/>
              <a:t>-доска с первостепенными задачами и основными составляющими системы. В последствии </a:t>
            </a:r>
            <a:r>
              <a:rPr lang="ru-RU" dirty="0" err="1"/>
              <a:t>Канбан</a:t>
            </a:r>
            <a:r>
              <a:rPr lang="ru-RU" dirty="0"/>
              <a:t>-доска будет расширяться и дополняться.</a:t>
            </a:r>
          </a:p>
          <a:p>
            <a:r>
              <a:rPr lang="ru-RU" dirty="0"/>
              <a:t>	Было создано четыре колонки, каждая из которых отвечает за определённое состояние задачи на данном этапе: Новые, В процессе, Готово, Отложено. Каждой задаче будет присвоен приоритет и назначен исполнитель или несколько исполнителей. Также в задаче может быть несколько подзадач, которым назначается свой исполнитель. В процессе работы над проектом задачи должны переходить из одной колонки в другую и помечаться как выполненные.</a:t>
            </a:r>
          </a:p>
          <a:p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9B6001A-2BBB-4A9B-AC6B-86E2995833A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3992" y="1988840"/>
            <a:ext cx="5940425" cy="27368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7E3DA78-24D6-4942-9332-9399AE1CA730}"/>
              </a:ext>
            </a:extLst>
          </p:cNvPr>
          <p:cNvSpPr txBox="1"/>
          <p:nvPr/>
        </p:nvSpPr>
        <p:spPr bwMode="auto">
          <a:xfrm>
            <a:off x="7464152" y="4725690"/>
            <a:ext cx="33843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Начало формирования </a:t>
            </a:r>
            <a:r>
              <a:rPr lang="ru-RU" sz="1600" dirty="0" err="1"/>
              <a:t>канбан</a:t>
            </a:r>
            <a:r>
              <a:rPr lang="ru-RU" sz="1600" dirty="0"/>
              <a:t>-доски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63E06F-30E2-4017-95EA-E06B74F4A38E}"/>
              </a:ext>
            </a:extLst>
          </p:cNvPr>
          <p:cNvSpPr txBox="1"/>
          <p:nvPr/>
        </p:nvSpPr>
        <p:spPr>
          <a:xfrm>
            <a:off x="9048328" y="1340768"/>
            <a:ext cx="648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Сл</a:t>
            </a:r>
            <a:r>
              <a:rPr lang="ru-RU" dirty="0"/>
              <a:t> 9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3925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775520" y="90109"/>
            <a:ext cx="10297143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Плановая документация и разработка UML-диаграмм</a:t>
            </a:r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D3EF59-101B-4E82-B478-08DE248019E4}"/>
              </a:ext>
            </a:extLst>
          </p:cNvPr>
          <p:cNvSpPr txBox="1"/>
          <p:nvPr/>
        </p:nvSpPr>
        <p:spPr>
          <a:xfrm>
            <a:off x="10239136" y="1306468"/>
            <a:ext cx="1512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Сл</a:t>
            </a:r>
            <a:r>
              <a:rPr lang="ru-RU" dirty="0"/>
              <a:t> 7 (общ </a:t>
            </a:r>
            <a:r>
              <a:rPr lang="en-US" dirty="0" err="1"/>
              <a:t>uml</a:t>
            </a:r>
            <a:r>
              <a:rPr lang="en-US" dirty="0"/>
              <a:t> </a:t>
            </a:r>
            <a:r>
              <a:rPr lang="ru-RU" dirty="0"/>
              <a:t>для </a:t>
            </a:r>
            <a:r>
              <a:rPr lang="ru-RU" dirty="0" err="1"/>
              <a:t>сист</a:t>
            </a:r>
            <a:r>
              <a:rPr lang="ru-RU" dirty="0"/>
              <a:t>)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1CC127F-4A90-4C20-98D3-A8DAE32F6D35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1744" y="2060847"/>
            <a:ext cx="3054216" cy="26670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189C6B-E07E-4702-BF7E-F909C066175C}"/>
              </a:ext>
            </a:extLst>
          </p:cNvPr>
          <p:cNvSpPr txBox="1"/>
          <p:nvPr/>
        </p:nvSpPr>
        <p:spPr>
          <a:xfrm>
            <a:off x="2927648" y="5414433"/>
            <a:ext cx="2553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Диаграмма развёртывания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7026C77-10FE-439B-8DD3-2897223F12B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4072" y="1955568"/>
            <a:ext cx="3168352" cy="2855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4A97DEB-C082-4B2D-917C-111F1F9A359B}"/>
              </a:ext>
            </a:extLst>
          </p:cNvPr>
          <p:cNvSpPr txBox="1"/>
          <p:nvPr/>
        </p:nvSpPr>
        <p:spPr bwMode="auto">
          <a:xfrm>
            <a:off x="7032104" y="5364465"/>
            <a:ext cx="2370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Диаграмма компонентов</a:t>
            </a:r>
          </a:p>
        </p:txBody>
      </p:sp>
    </p:spTree>
    <p:extLst>
      <p:ext uri="{BB962C8B-B14F-4D97-AF65-F5344CB8AC3E}">
        <p14:creationId xmlns:p14="http://schemas.microsoft.com/office/powerpoint/2010/main" val="1308016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775520" y="90109"/>
            <a:ext cx="10297143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Плановая документация и разработка UML-диаграмм</a:t>
            </a:r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D3EF59-101B-4E82-B478-08DE248019E4}"/>
              </a:ext>
            </a:extLst>
          </p:cNvPr>
          <p:cNvSpPr txBox="1"/>
          <p:nvPr/>
        </p:nvSpPr>
        <p:spPr>
          <a:xfrm>
            <a:off x="8438626" y="947436"/>
            <a:ext cx="15121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err="1"/>
              <a:t>Сл</a:t>
            </a:r>
            <a:r>
              <a:rPr lang="ru-RU" sz="1100" dirty="0"/>
              <a:t> 8 (для </a:t>
            </a:r>
            <a:r>
              <a:rPr lang="ru-RU" sz="1100" dirty="0" err="1"/>
              <a:t>конкретн</a:t>
            </a:r>
            <a:r>
              <a:rPr lang="ru-RU" sz="1100" dirty="0"/>
              <a:t> </a:t>
            </a:r>
            <a:r>
              <a:rPr lang="ru-RU" sz="1100" dirty="0" err="1"/>
              <a:t>объета</a:t>
            </a:r>
            <a:r>
              <a:rPr lang="ru-RU" sz="1100" dirty="0"/>
              <a:t> или действ систем)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189C6B-E07E-4702-BF7E-F909C066175C}"/>
              </a:ext>
            </a:extLst>
          </p:cNvPr>
          <p:cNvSpPr txBox="1"/>
          <p:nvPr/>
        </p:nvSpPr>
        <p:spPr>
          <a:xfrm>
            <a:off x="100079" y="5328597"/>
            <a:ext cx="263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Диаграмма деятельности мониторинга безопасности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A97DEB-C082-4B2D-917C-111F1F9A359B}"/>
              </a:ext>
            </a:extLst>
          </p:cNvPr>
          <p:cNvSpPr txBox="1"/>
          <p:nvPr/>
        </p:nvSpPr>
        <p:spPr bwMode="auto">
          <a:xfrm>
            <a:off x="2999656" y="5355352"/>
            <a:ext cx="28030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Диаграмма последовательности при оценке рисков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513B0D9-8CD7-4761-AE24-1523BE1F25D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58" y="1306468"/>
            <a:ext cx="2338443" cy="383419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7ED02F0-D233-4738-B227-70C3C647224F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355" y="1306468"/>
            <a:ext cx="2685573" cy="383419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4EB39F1-4846-4591-823D-D780D7274D2A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3992" y="1461638"/>
            <a:ext cx="2414634" cy="352385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DCCEBAF-E492-44C9-B034-BFDAC82ABBAF}"/>
              </a:ext>
            </a:extLst>
          </p:cNvPr>
          <p:cNvSpPr txBox="1"/>
          <p:nvPr/>
        </p:nvSpPr>
        <p:spPr bwMode="auto">
          <a:xfrm>
            <a:off x="6023992" y="5224002"/>
            <a:ext cx="28030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Диаграмма коммуникации объектов мониторинга безопасности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AE43E9B-D890-4DC7-A6B0-194E0A636252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336" y="1686100"/>
            <a:ext cx="2559713" cy="328555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37AC2AE-A024-481F-8C2D-ED2FF93E61D9}"/>
              </a:ext>
            </a:extLst>
          </p:cNvPr>
          <p:cNvSpPr txBox="1"/>
          <p:nvPr/>
        </p:nvSpPr>
        <p:spPr bwMode="auto">
          <a:xfrm>
            <a:off x="8998652" y="5314995"/>
            <a:ext cx="28030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Диаграмма 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состояния уведомления о безопасности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968290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775520" y="90109"/>
            <a:ext cx="10297143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Плановая документация и разработка UML-диаграмм</a:t>
            </a:r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D3EF59-101B-4E82-B478-08DE248019E4}"/>
              </a:ext>
            </a:extLst>
          </p:cNvPr>
          <p:cNvSpPr txBox="1"/>
          <p:nvPr/>
        </p:nvSpPr>
        <p:spPr>
          <a:xfrm>
            <a:off x="8438626" y="947436"/>
            <a:ext cx="15121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err="1"/>
              <a:t>Сл</a:t>
            </a:r>
            <a:r>
              <a:rPr lang="ru-RU" sz="1100" dirty="0"/>
              <a:t> 9 (для </a:t>
            </a:r>
            <a:r>
              <a:rPr lang="ru-RU" sz="1100" dirty="0" err="1"/>
              <a:t>конкретн</a:t>
            </a:r>
            <a:r>
              <a:rPr lang="ru-RU" sz="1100" dirty="0"/>
              <a:t> </a:t>
            </a:r>
            <a:r>
              <a:rPr lang="ru-RU" sz="1100" dirty="0" err="1"/>
              <a:t>объета</a:t>
            </a:r>
            <a:r>
              <a:rPr lang="ru-RU" sz="1100" dirty="0"/>
              <a:t> или действ систем)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189C6B-E07E-4702-BF7E-F909C066175C}"/>
              </a:ext>
            </a:extLst>
          </p:cNvPr>
          <p:cNvSpPr txBox="1"/>
          <p:nvPr/>
        </p:nvSpPr>
        <p:spPr>
          <a:xfrm>
            <a:off x="3196425" y="5666854"/>
            <a:ext cx="263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Диаграмма состояния пользователя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A97DEB-C082-4B2D-917C-111F1F9A359B}"/>
              </a:ext>
            </a:extLst>
          </p:cNvPr>
          <p:cNvSpPr txBox="1"/>
          <p:nvPr/>
        </p:nvSpPr>
        <p:spPr bwMode="auto">
          <a:xfrm>
            <a:off x="7680176" y="5620984"/>
            <a:ext cx="28030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Диаграмма коммуникации объектов при управлении профилем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2CFA501D-AED0-44E5-8B37-66C2D9413DF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648" y="1673561"/>
            <a:ext cx="2490430" cy="4027483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DDC2AEA6-158C-4EFC-8079-B73ABBB39996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2184" y="1753622"/>
            <a:ext cx="2474492" cy="386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546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775520" y="90109"/>
            <a:ext cx="10297143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Реализация системы</a:t>
            </a:r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EB7BFFE-FF18-4230-9F8C-9AD5E52EF77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539" y="1556792"/>
            <a:ext cx="5790462" cy="32562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DE98A5-BFB4-4DED-9873-4F585F9590A4}"/>
              </a:ext>
            </a:extLst>
          </p:cNvPr>
          <p:cNvSpPr txBox="1"/>
          <p:nvPr/>
        </p:nvSpPr>
        <p:spPr>
          <a:xfrm>
            <a:off x="551384" y="5301208"/>
            <a:ext cx="2664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Реализация модуля со статьями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F0DEA05-A5BE-4E7F-A6B5-7C5368A5D8AE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802" y="1528591"/>
            <a:ext cx="5565156" cy="32562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24D0755-7F5A-4E84-BC1C-136831D9D66B}"/>
              </a:ext>
            </a:extLst>
          </p:cNvPr>
          <p:cNvSpPr txBox="1"/>
          <p:nvPr/>
        </p:nvSpPr>
        <p:spPr bwMode="auto">
          <a:xfrm>
            <a:off x="7644174" y="5274780"/>
            <a:ext cx="2664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Реализация модуля с приложениями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385E10-EF8B-485C-8C34-9F282E2FF0FD}"/>
              </a:ext>
            </a:extLst>
          </p:cNvPr>
          <p:cNvSpPr txBox="1"/>
          <p:nvPr/>
        </p:nvSpPr>
        <p:spPr>
          <a:xfrm>
            <a:off x="9120336" y="764704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Сл</a:t>
            </a:r>
            <a:r>
              <a:rPr lang="ru-RU" dirty="0"/>
              <a:t> 21</a:t>
            </a:r>
          </a:p>
        </p:txBody>
      </p:sp>
    </p:spTree>
    <p:extLst>
      <p:ext uri="{BB962C8B-B14F-4D97-AF65-F5344CB8AC3E}">
        <p14:creationId xmlns:p14="http://schemas.microsoft.com/office/powerpoint/2010/main" val="2898625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775520" y="90109"/>
            <a:ext cx="10297143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Реализация системы</a:t>
            </a:r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DE98A5-BFB4-4DED-9873-4F585F9590A4}"/>
              </a:ext>
            </a:extLst>
          </p:cNvPr>
          <p:cNvSpPr txBox="1"/>
          <p:nvPr/>
        </p:nvSpPr>
        <p:spPr>
          <a:xfrm>
            <a:off x="1806220" y="5266968"/>
            <a:ext cx="33843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Реализация модуля с разговорником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4D0755-7F5A-4E84-BC1C-136831D9D66B}"/>
              </a:ext>
            </a:extLst>
          </p:cNvPr>
          <p:cNvSpPr txBox="1"/>
          <p:nvPr/>
        </p:nvSpPr>
        <p:spPr bwMode="auto">
          <a:xfrm>
            <a:off x="7176120" y="4581128"/>
            <a:ext cx="3837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Реализация раздела с категориями фраз и фразами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3225A3C-82FB-423C-B820-5C703109CBD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803" y="1588135"/>
            <a:ext cx="5940425" cy="36817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139C54-98D5-4C49-B115-4CCA1CE25929}"/>
              </a:ext>
            </a:extLst>
          </p:cNvPr>
          <p:cNvSpPr txBox="1"/>
          <p:nvPr/>
        </p:nvSpPr>
        <p:spPr>
          <a:xfrm>
            <a:off x="9336360" y="476672"/>
            <a:ext cx="972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Сл</a:t>
            </a:r>
            <a:r>
              <a:rPr lang="ru-RU" dirty="0"/>
              <a:t> 22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08627CF-606A-4642-8633-24F15A4FA596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4072" y="2035623"/>
            <a:ext cx="4934585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669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775520" y="90109"/>
            <a:ext cx="10297143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Реализация системы</a:t>
            </a:r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DE98A5-BFB4-4DED-9873-4F585F9590A4}"/>
              </a:ext>
            </a:extLst>
          </p:cNvPr>
          <p:cNvSpPr txBox="1"/>
          <p:nvPr/>
        </p:nvSpPr>
        <p:spPr>
          <a:xfrm>
            <a:off x="1847528" y="4576242"/>
            <a:ext cx="33123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Реализация части с категориями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4D0755-7F5A-4E84-BC1C-136831D9D66B}"/>
              </a:ext>
            </a:extLst>
          </p:cNvPr>
          <p:cNvSpPr txBox="1"/>
          <p:nvPr/>
        </p:nvSpPr>
        <p:spPr bwMode="auto">
          <a:xfrm>
            <a:off x="7608168" y="5686496"/>
            <a:ext cx="41764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Реализация модальных окон для всех модулей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491FDF1-E5ED-495C-9154-1BE93C5AF94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8769" y="1140258"/>
            <a:ext cx="4223815" cy="45209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139C54-98D5-4C49-B115-4CCA1CE25929}"/>
              </a:ext>
            </a:extLst>
          </p:cNvPr>
          <p:cNvSpPr txBox="1"/>
          <p:nvPr/>
        </p:nvSpPr>
        <p:spPr>
          <a:xfrm>
            <a:off x="9336360" y="476672"/>
            <a:ext cx="972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Сл</a:t>
            </a:r>
            <a:r>
              <a:rPr lang="ru-RU" dirty="0"/>
              <a:t> 23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11E0581-925B-4F38-B4E0-1399A73F57F5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00" y="2356917"/>
            <a:ext cx="5201285" cy="22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3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775520" y="90109"/>
            <a:ext cx="10297143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Тестирование</a:t>
            </a:r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A4D71F-C1FD-40B6-A448-212CED3FA1A4}"/>
              </a:ext>
            </a:extLst>
          </p:cNvPr>
          <p:cNvSpPr txBox="1"/>
          <p:nvPr/>
        </p:nvSpPr>
        <p:spPr>
          <a:xfrm>
            <a:off x="9840416" y="880286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Сл</a:t>
            </a:r>
            <a:r>
              <a:rPr lang="ru-RU" dirty="0"/>
              <a:t> 24?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14D3996E-12D2-4487-AC82-CC7BD455F0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7303633"/>
              </p:ext>
            </p:extLst>
          </p:nvPr>
        </p:nvGraphicFramePr>
        <p:xfrm>
          <a:off x="414003" y="1241407"/>
          <a:ext cx="4339563" cy="4642104"/>
        </p:xfrm>
        <a:graphic>
          <a:graphicData uri="http://schemas.openxmlformats.org/drawingml/2006/table">
            <a:tbl>
              <a:tblPr firstRow="1" firstCol="1" bandRow="1">
                <a:tableStyleId>{7D414673-6291-E95B-8A48-E9062BF18BBB}</a:tableStyleId>
              </a:tblPr>
              <a:tblGrid>
                <a:gridCol w="1446521">
                  <a:extLst>
                    <a:ext uri="{9D8B030D-6E8A-4147-A177-3AD203B41FA5}">
                      <a16:colId xmlns:a16="http://schemas.microsoft.com/office/drawing/2014/main" val="357774642"/>
                    </a:ext>
                  </a:extLst>
                </a:gridCol>
                <a:gridCol w="1446521">
                  <a:extLst>
                    <a:ext uri="{9D8B030D-6E8A-4147-A177-3AD203B41FA5}">
                      <a16:colId xmlns:a16="http://schemas.microsoft.com/office/drawing/2014/main" val="201458891"/>
                    </a:ext>
                  </a:extLst>
                </a:gridCol>
                <a:gridCol w="1446521">
                  <a:extLst>
                    <a:ext uri="{9D8B030D-6E8A-4147-A177-3AD203B41FA5}">
                      <a16:colId xmlns:a16="http://schemas.microsoft.com/office/drawing/2014/main" val="1445505700"/>
                    </a:ext>
                  </a:extLst>
                </a:gridCol>
              </a:tblGrid>
              <a:tr h="176555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Риск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Вероятность (%)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Степень ущерба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/>
                </a:tc>
                <a:extLst>
                  <a:ext uri="{0D108BD9-81ED-4DB2-BD59-A6C34878D82A}">
                    <a16:rowId xmlns:a16="http://schemas.microsoft.com/office/drawing/2014/main" val="1630468835"/>
                  </a:ext>
                </a:extLst>
              </a:tr>
              <a:tr h="377164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Неполные требования ПО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70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Высокая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/>
                </a:tc>
                <a:extLst>
                  <a:ext uri="{0D108BD9-81ED-4DB2-BD59-A6C34878D82A}">
                    <a16:rowId xmlns:a16="http://schemas.microsoft.com/office/drawing/2014/main" val="563481619"/>
                  </a:ext>
                </a:extLst>
              </a:tr>
              <a:tr h="176555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Ошибки в коде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60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Средняя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/>
                </a:tc>
                <a:extLst>
                  <a:ext uri="{0D108BD9-81ED-4DB2-BD59-A6C34878D82A}">
                    <a16:rowId xmlns:a16="http://schemas.microsoft.com/office/drawing/2014/main" val="3401703446"/>
                  </a:ext>
                </a:extLst>
              </a:tr>
              <a:tr h="577773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Нехватка квалифицированных специалистов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50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Высокая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/>
                </a:tc>
                <a:extLst>
                  <a:ext uri="{0D108BD9-81ED-4DB2-BD59-A6C34878D82A}">
                    <a16:rowId xmlns:a16="http://schemas.microsoft.com/office/drawing/2014/main" val="2898890512"/>
                  </a:ext>
                </a:extLst>
              </a:tr>
              <a:tr h="377164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Неправильное управление проектом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50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Высокая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/>
                </a:tc>
                <a:extLst>
                  <a:ext uri="{0D108BD9-81ED-4DB2-BD59-A6C34878D82A}">
                    <a16:rowId xmlns:a16="http://schemas.microsoft.com/office/drawing/2014/main" val="1102458720"/>
                  </a:ext>
                </a:extLst>
              </a:tr>
              <a:tr h="577773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Изменение требований в процессе разработки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40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Средняя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/>
                </a:tc>
                <a:extLst>
                  <a:ext uri="{0D108BD9-81ED-4DB2-BD59-A6C34878D82A}">
                    <a16:rowId xmlns:a16="http://schemas.microsoft.com/office/drawing/2014/main" val="3151707396"/>
                  </a:ext>
                </a:extLst>
              </a:tr>
              <a:tr h="377164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Устаревание технологий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30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Маленькая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/>
                </a:tc>
                <a:extLst>
                  <a:ext uri="{0D108BD9-81ED-4DB2-BD59-A6C34878D82A}">
                    <a16:rowId xmlns:a16="http://schemas.microsoft.com/office/drawing/2014/main" val="3554405945"/>
                  </a:ext>
                </a:extLst>
              </a:tr>
              <a:tr h="377164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Ошибки и баги в существующем коде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50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Средняя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/>
                </a:tc>
                <a:extLst>
                  <a:ext uri="{0D108BD9-81ED-4DB2-BD59-A6C34878D82A}">
                    <a16:rowId xmlns:a16="http://schemas.microsoft.com/office/drawing/2014/main" val="560569047"/>
                  </a:ext>
                </a:extLst>
              </a:tr>
              <a:tr h="377164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Нехватка документации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40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Средняя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/>
                </a:tc>
                <a:extLst>
                  <a:ext uri="{0D108BD9-81ED-4DB2-BD59-A6C34878D82A}">
                    <a16:rowId xmlns:a16="http://schemas.microsoft.com/office/drawing/2014/main" val="702899537"/>
                  </a:ext>
                </a:extLst>
              </a:tr>
              <a:tr h="377164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Изменение требований к ПО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50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Средняя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/>
                </a:tc>
                <a:extLst>
                  <a:ext uri="{0D108BD9-81ED-4DB2-BD59-A6C34878D82A}">
                    <a16:rowId xmlns:a16="http://schemas.microsoft.com/office/drawing/2014/main" val="1069443951"/>
                  </a:ext>
                </a:extLst>
              </a:tr>
              <a:tr h="377164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Проблемы с совместимостью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40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Средняя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/>
                </a:tc>
                <a:extLst>
                  <a:ext uri="{0D108BD9-81ED-4DB2-BD59-A6C34878D82A}">
                    <a16:rowId xmlns:a16="http://schemas.microsoft.com/office/drawing/2014/main" val="3969945922"/>
                  </a:ext>
                </a:extLst>
              </a:tr>
              <a:tr h="377164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Проблемы с безопасностью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50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 dirty="0">
                          <a:effectLst/>
                        </a:rPr>
                        <a:t>Высокая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/>
                </a:tc>
                <a:extLst>
                  <a:ext uri="{0D108BD9-81ED-4DB2-BD59-A6C34878D82A}">
                    <a16:rowId xmlns:a16="http://schemas.microsoft.com/office/drawing/2014/main" val="1866963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F244B94-0B6B-4D68-98B2-4FDFB9E7E6CB}"/>
              </a:ext>
            </a:extLst>
          </p:cNvPr>
          <p:cNvSpPr txBox="1"/>
          <p:nvPr/>
        </p:nvSpPr>
        <p:spPr>
          <a:xfrm>
            <a:off x="1287640" y="5984659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Риски из тестового плана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31BB39-2817-49B3-8669-D4965B84FAB5}"/>
              </a:ext>
            </a:extLst>
          </p:cNvPr>
          <p:cNvSpPr txBox="1"/>
          <p:nvPr/>
        </p:nvSpPr>
        <p:spPr bwMode="auto">
          <a:xfrm>
            <a:off x="8040216" y="4211597"/>
            <a:ext cx="15931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Этапы проекта</a:t>
            </a:r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8B148D76-5086-413F-8046-7239255CD7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2749176"/>
              </p:ext>
            </p:extLst>
          </p:nvPr>
        </p:nvGraphicFramePr>
        <p:xfrm>
          <a:off x="5591944" y="2276872"/>
          <a:ext cx="5941060" cy="1931416"/>
        </p:xfrm>
        <a:graphic>
          <a:graphicData uri="http://schemas.openxmlformats.org/drawingml/2006/table">
            <a:tbl>
              <a:tblPr firstRow="1" firstCol="1" bandRow="1">
                <a:tableStyleId>{7D414673-6291-E95B-8A48-E9062BF18BBB}</a:tableStyleId>
              </a:tblPr>
              <a:tblGrid>
                <a:gridCol w="3062664">
                  <a:extLst>
                    <a:ext uri="{9D8B030D-6E8A-4147-A177-3AD203B41FA5}">
                      <a16:colId xmlns:a16="http://schemas.microsoft.com/office/drawing/2014/main" val="966786229"/>
                    </a:ext>
                  </a:extLst>
                </a:gridCol>
                <a:gridCol w="2878396">
                  <a:extLst>
                    <a:ext uri="{9D8B030D-6E8A-4147-A177-3AD203B41FA5}">
                      <a16:colId xmlns:a16="http://schemas.microsoft.com/office/drawing/2014/main" val="30979536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Этапы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Длительность (дни)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85516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Сбор и анализ требований к ПО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2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85181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Проектирование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4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1582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Разработка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4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09410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Тестирование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1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73155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Запуск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1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83657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Поддержка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Всё время, пока используется ПО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66376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Обслуживание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</a:rPr>
                        <a:t>Всё время, пока используется ПО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0291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2698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775520" y="90109"/>
            <a:ext cx="10297143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Тестирование</a:t>
            </a:r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A4D71F-C1FD-40B6-A448-212CED3FA1A4}"/>
              </a:ext>
            </a:extLst>
          </p:cNvPr>
          <p:cNvSpPr txBox="1"/>
          <p:nvPr/>
        </p:nvSpPr>
        <p:spPr>
          <a:xfrm>
            <a:off x="9840416" y="880286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Сл</a:t>
            </a:r>
            <a:r>
              <a:rPr lang="ru-RU" dirty="0"/>
              <a:t> 25?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31BB39-2817-49B3-8669-D4965B84FAB5}"/>
              </a:ext>
            </a:extLst>
          </p:cNvPr>
          <p:cNvSpPr txBox="1"/>
          <p:nvPr/>
        </p:nvSpPr>
        <p:spPr bwMode="auto">
          <a:xfrm>
            <a:off x="5627947" y="5703259"/>
            <a:ext cx="1836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Часть </a:t>
            </a:r>
            <a:r>
              <a:rPr lang="ru-RU" sz="1600" dirty="0" err="1"/>
              <a:t>тетс</a:t>
            </a:r>
            <a:r>
              <a:rPr lang="ru-RU" sz="1600" dirty="0"/>
              <a:t>-кейсов</a:t>
            </a: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1133A7F7-A93C-496A-89A4-7AE86BCF27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9072431"/>
              </p:ext>
            </p:extLst>
          </p:nvPr>
        </p:nvGraphicFramePr>
        <p:xfrm>
          <a:off x="3935760" y="1166019"/>
          <a:ext cx="4984929" cy="4525962"/>
        </p:xfrm>
        <a:graphic>
          <a:graphicData uri="http://schemas.openxmlformats.org/drawingml/2006/table">
            <a:tbl>
              <a:tblPr firstRow="1" firstCol="1" bandRow="1">
                <a:tableStyleId>{7D414673-6291-E95B-8A48-E9062BF18BBB}</a:tableStyleId>
              </a:tblPr>
              <a:tblGrid>
                <a:gridCol w="299789">
                  <a:extLst>
                    <a:ext uri="{9D8B030D-6E8A-4147-A177-3AD203B41FA5}">
                      <a16:colId xmlns:a16="http://schemas.microsoft.com/office/drawing/2014/main" val="2162661961"/>
                    </a:ext>
                  </a:extLst>
                </a:gridCol>
                <a:gridCol w="841757">
                  <a:extLst>
                    <a:ext uri="{9D8B030D-6E8A-4147-A177-3AD203B41FA5}">
                      <a16:colId xmlns:a16="http://schemas.microsoft.com/office/drawing/2014/main" val="954693386"/>
                    </a:ext>
                  </a:extLst>
                </a:gridCol>
                <a:gridCol w="1262102">
                  <a:extLst>
                    <a:ext uri="{9D8B030D-6E8A-4147-A177-3AD203B41FA5}">
                      <a16:colId xmlns:a16="http://schemas.microsoft.com/office/drawing/2014/main" val="3479278435"/>
                    </a:ext>
                  </a:extLst>
                </a:gridCol>
                <a:gridCol w="911103">
                  <a:extLst>
                    <a:ext uri="{9D8B030D-6E8A-4147-A177-3AD203B41FA5}">
                      <a16:colId xmlns:a16="http://schemas.microsoft.com/office/drawing/2014/main" val="4048093768"/>
                    </a:ext>
                  </a:extLst>
                </a:gridCol>
                <a:gridCol w="911103">
                  <a:extLst>
                    <a:ext uri="{9D8B030D-6E8A-4147-A177-3AD203B41FA5}">
                      <a16:colId xmlns:a16="http://schemas.microsoft.com/office/drawing/2014/main" val="2796423649"/>
                    </a:ext>
                  </a:extLst>
                </a:gridCol>
                <a:gridCol w="759075">
                  <a:extLst>
                    <a:ext uri="{9D8B030D-6E8A-4147-A177-3AD203B41FA5}">
                      <a16:colId xmlns:a16="http://schemas.microsoft.com/office/drawing/2014/main" val="1368125333"/>
                    </a:ext>
                  </a:extLst>
                </a:gridCol>
              </a:tblGrid>
              <a:tr h="663697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№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Тест-кейс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Шаги тест-кейса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Ожидаемый результат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Фактический результат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Прохождение теста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/>
                </a:tc>
                <a:extLst>
                  <a:ext uri="{0D108BD9-81ED-4DB2-BD59-A6C34878D82A}">
                    <a16:rowId xmlns:a16="http://schemas.microsoft.com/office/drawing/2014/main" val="3380563788"/>
                  </a:ext>
                </a:extLst>
              </a:tr>
              <a:tr h="2046354"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1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Просмотр списка статей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1. Зайти на сайт. 2. Перейти в раздел "Статьи и приложения". 3. Выбрать страну из выпадающего списка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Отображаются статьи выбранной страны с названием (ссылка) и датой обновления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Отображаются статьи выбранной страны с названием (ссылка) и датой обновления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Успешное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/>
                </a:tc>
                <a:extLst>
                  <a:ext uri="{0D108BD9-81ED-4DB2-BD59-A6C34878D82A}">
                    <a16:rowId xmlns:a16="http://schemas.microsoft.com/office/drawing/2014/main" val="4253822570"/>
                  </a:ext>
                </a:extLst>
              </a:tr>
              <a:tr h="1815911"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2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Просмотр списка приложений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1. Зайти на сайт. 2. Перейти в раздел "Статьи и приложения". 3. Выбрать страну из выпадающего списка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Отображаются приложения выбранной страны с названием, описанием и логотипом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Отображаются приложения выбранной страны с названием, описанием и логотипом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Успешное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/>
                </a:tc>
                <a:extLst>
                  <a:ext uri="{0D108BD9-81ED-4DB2-BD59-A6C34878D82A}">
                    <a16:rowId xmlns:a16="http://schemas.microsoft.com/office/drawing/2014/main" val="27522867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7643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775520" y="90109"/>
            <a:ext cx="10297143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Тестирование</a:t>
            </a:r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0BBAC7C-FC50-4E84-B2BF-5578292BA85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776" y="1140259"/>
            <a:ext cx="5267325" cy="43199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2CE501-63EC-4574-A739-0CF6889ACDCE}"/>
              </a:ext>
            </a:extLst>
          </p:cNvPr>
          <p:cNvSpPr txBox="1"/>
          <p:nvPr/>
        </p:nvSpPr>
        <p:spPr>
          <a:xfrm>
            <a:off x="5519936" y="5430183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Прохождение </a:t>
            </a:r>
            <a:r>
              <a:rPr lang="en-US" sz="1600" dirty="0"/>
              <a:t>unit-</a:t>
            </a:r>
            <a:r>
              <a:rPr lang="ru-RU" sz="1600" dirty="0"/>
              <a:t>тестов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15C14B-8D4A-466B-AC83-6AAAB8B59D12}"/>
              </a:ext>
            </a:extLst>
          </p:cNvPr>
          <p:cNvSpPr txBox="1"/>
          <p:nvPr/>
        </p:nvSpPr>
        <p:spPr>
          <a:xfrm>
            <a:off x="10776520" y="951111"/>
            <a:ext cx="5760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Сл</a:t>
            </a:r>
            <a:r>
              <a:rPr lang="ru-RU" dirty="0"/>
              <a:t> 26?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8746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919536" y="90110"/>
            <a:ext cx="8064896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Заключение</a:t>
            </a:r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8779DF-D361-4752-AF56-DB1EA51D7662}"/>
              </a:ext>
            </a:extLst>
          </p:cNvPr>
          <p:cNvSpPr txBox="1"/>
          <p:nvPr/>
        </p:nvSpPr>
        <p:spPr bwMode="auto">
          <a:xfrm>
            <a:off x="335360" y="1247731"/>
            <a:ext cx="11593288" cy="4734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49263" algn="just">
              <a:lnSpc>
                <a:spcPct val="150000"/>
              </a:lnSpc>
            </a:pPr>
            <a:r>
              <a:rPr lang="ru-RU" dirty="0"/>
              <a:t>Входе прохождения учебной практики были закреплены теоретические знания и приобретены практические навыки в области проектирования, разработки информационных систем, интеграции с хранилищем данных и использовании системы контроля версий при командной работе.</a:t>
            </a:r>
          </a:p>
          <a:p>
            <a:pPr indent="449263" algn="just">
              <a:lnSpc>
                <a:spcPct val="150000"/>
              </a:lnSpc>
            </a:pPr>
            <a:r>
              <a:rPr lang="ru-RU" dirty="0"/>
              <a:t>Были последовательно изучены принципы формирования и организации команды, распределение ролей, проектирования информационных систем, командной разработки, тестирования и составления документации.</a:t>
            </a:r>
          </a:p>
          <a:p>
            <a:pPr indent="449263" algn="just">
              <a:lnSpc>
                <a:spcPct val="150000"/>
              </a:lnSpc>
            </a:pPr>
            <a:r>
              <a:rPr lang="ru-RU" dirty="0"/>
              <a:t>В результате работы создан полностью функционирующий модуль контентного наполнения, интегрированный с общей системой. </a:t>
            </a:r>
          </a:p>
          <a:p>
            <a:pPr indent="449263" algn="just">
              <a:lnSpc>
                <a:spcPct val="150000"/>
              </a:lnSpc>
            </a:pPr>
            <a:r>
              <a:rPr lang="ru-RU" dirty="0"/>
              <a:t>Полученные в ходе практики навыки разработки на </a:t>
            </a:r>
            <a:r>
              <a:rPr lang="ru-RU" dirty="0" err="1"/>
              <a:t>Django</a:t>
            </a:r>
            <a:r>
              <a:rPr lang="ru-RU" dirty="0"/>
              <a:t>, проектирования баз данных и информационных систем, написания тестов и работы с системой контроля версий </a:t>
            </a:r>
            <a:r>
              <a:rPr lang="ru-RU" dirty="0" err="1"/>
              <a:t>Git</a:t>
            </a:r>
            <a:r>
              <a:rPr lang="ru-RU" dirty="0"/>
              <a:t> будут полезны в дальнейшей профессиональной деятельности.</a:t>
            </a:r>
          </a:p>
          <a:p>
            <a:pPr indent="449263" algn="just">
              <a:lnSpc>
                <a:spcPct val="150000"/>
              </a:lnSpc>
            </a:pPr>
            <a:endParaRPr lang="ru-RU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C675E4-4875-410F-9E8F-53C94C1C869C}"/>
              </a:ext>
            </a:extLst>
          </p:cNvPr>
          <p:cNvSpPr txBox="1"/>
          <p:nvPr/>
        </p:nvSpPr>
        <p:spPr>
          <a:xfrm>
            <a:off x="9624392" y="692696"/>
            <a:ext cx="720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Сл</a:t>
            </a:r>
            <a:r>
              <a:rPr lang="ru-RU" dirty="0"/>
              <a:t> 28</a:t>
            </a:r>
          </a:p>
        </p:txBody>
      </p:sp>
    </p:spTree>
    <p:extLst>
      <p:ext uri="{BB962C8B-B14F-4D97-AF65-F5344CB8AC3E}">
        <p14:creationId xmlns:p14="http://schemas.microsoft.com/office/powerpoint/2010/main" val="346135610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праведливость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Другая 1">
      <a:majorFont>
        <a:latin typeface="Times New Roman"/>
        <a:ea typeface="Arial"/>
        <a:cs typeface="Arial"/>
      </a:majorFont>
      <a:minorFont>
        <a:latin typeface="Times New Roman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1559</TotalTime>
  <Words>764</Words>
  <Application>Microsoft Office PowerPoint</Application>
  <DocSecurity>0</DocSecurity>
  <PresentationFormat>Широкоэкранный</PresentationFormat>
  <Paragraphs>128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Times New Roman</vt:lpstr>
      <vt:lpstr>Тема Office</vt:lpstr>
      <vt:lpstr>Цель и задачи</vt:lpstr>
      <vt:lpstr>Концепция информационной системы</vt:lpstr>
      <vt:lpstr>Создание канбан-доски</vt:lpstr>
      <vt:lpstr>Плановая документация и разработка UML-диаграмм</vt:lpstr>
      <vt:lpstr>Плановая документация и разработка UML-диаграмм</vt:lpstr>
      <vt:lpstr>Плановая документация и разработка UML-диаграмм</vt:lpstr>
      <vt:lpstr>Реализация системы</vt:lpstr>
      <vt:lpstr>Реализация системы</vt:lpstr>
      <vt:lpstr>Реализация системы</vt:lpstr>
      <vt:lpstr>Тестирование</vt:lpstr>
      <vt:lpstr>Тестирование</vt:lpstr>
      <vt:lpstr>Тестирование</vt:lpstr>
      <vt:lpstr>Заключение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User</dc:creator>
  <cp:keywords/>
  <dc:description/>
  <cp:lastModifiedBy>Арина Александрова</cp:lastModifiedBy>
  <cp:revision>98</cp:revision>
  <dcterms:created xsi:type="dcterms:W3CDTF">2019-05-16T05:43:42Z</dcterms:created>
  <dcterms:modified xsi:type="dcterms:W3CDTF">2026-06-02T12:46:47Z</dcterms:modified>
  <cp:category/>
  <dc:identifier/>
  <cp:contentStatus/>
  <dc:language/>
  <cp:version/>
</cp:coreProperties>
</file>